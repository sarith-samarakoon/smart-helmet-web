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307" r:id="rId5"/>
    <p:sldId id="326" r:id="rId6"/>
    <p:sldId id="328" r:id="rId7"/>
    <p:sldId id="336" r:id="rId8"/>
    <p:sldId id="327" r:id="rId9"/>
    <p:sldId id="337" r:id="rId10"/>
    <p:sldId id="325" r:id="rId11"/>
    <p:sldId id="341" r:id="rId12"/>
    <p:sldId id="287" r:id="rId13"/>
    <p:sldId id="339" r:id="rId14"/>
    <p:sldId id="296" r:id="rId15"/>
    <p:sldId id="342" r:id="rId16"/>
    <p:sldId id="317" r:id="rId17"/>
    <p:sldId id="343" r:id="rId18"/>
    <p:sldId id="329" r:id="rId19"/>
    <p:sldId id="332" r:id="rId20"/>
    <p:sldId id="33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000000"/>
    <a:srgbClr val="2150FE"/>
    <a:srgbClr val="04617B"/>
    <a:srgbClr val="333399"/>
    <a:srgbClr val="546422"/>
    <a:srgbClr val="CC9900"/>
    <a:srgbClr val="4F6128"/>
    <a:srgbClr val="EAFAFC"/>
    <a:srgbClr val="FF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882" autoAdjust="0"/>
    <p:restoredTop sz="94660"/>
  </p:normalViewPr>
  <p:slideViewPr>
    <p:cSldViewPr snapToGrid="0">
      <p:cViewPr varScale="1">
        <p:scale>
          <a:sx n="64" d="100"/>
          <a:sy n="64" d="100"/>
        </p:scale>
        <p:origin x="738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BAAE38-79BE-4082-9A4D-2BEC47341C04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F15613-D24F-46B4-9010-BD7B318E3C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40503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5BCF22-2D75-4779-9C8B-6270AA3FA919}" type="datetimeFigureOut">
              <a:rPr lang="en-US" smtClean="0"/>
              <a:t>5/4/2026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0B8AC8-E212-48B2-9917-7448FC83DD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59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0B8AC8-E212-48B2-9917-7448FC83DD1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4215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Project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914400" y="762000"/>
            <a:ext cx="10363200" cy="147002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Add the Project 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828800" y="25146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Project ID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64494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20" name="Picture 19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C4A8CD1C-223D-4C87-9519-FDBD49BC597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70881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dividua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11888911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verall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8202388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Section Sub-Titles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77C29E58-4878-471A-A8CF-FA8607A4052E}"/>
              </a:ext>
            </a:extLst>
          </p:cNvPr>
          <p:cNvSpPr/>
          <p:nvPr userDrawn="1"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ITXXXXXXXX</a:t>
            </a:r>
            <a:r>
              <a:rPr lang="en-US" sz="1800">
                <a:solidFill>
                  <a:schemeClr val="tx1"/>
                </a:solidFill>
              </a:rPr>
              <a:t>   |   &lt;</a:t>
            </a:r>
            <a:r>
              <a:rPr lang="en-US" sz="1800" b="1">
                <a:solidFill>
                  <a:schemeClr val="tx1"/>
                </a:solidFill>
              </a:rPr>
              <a:t>&lt;Student Name&gt;&gt;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sz="1800" b="0">
                <a:solidFill>
                  <a:schemeClr val="tx1"/>
                </a:solidFill>
              </a:rPr>
              <a:t>&lt;&lt;Project ID&gt;&gt;</a:t>
            </a:r>
          </a:p>
        </p:txBody>
      </p:sp>
    </p:spTree>
    <p:extLst>
      <p:ext uri="{BB962C8B-B14F-4D97-AF65-F5344CB8AC3E}">
        <p14:creationId xmlns:p14="http://schemas.microsoft.com/office/powerpoint/2010/main" val="32933316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tudent Information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63084" y="2837087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Student IT Number | Student Name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963084" y="4237261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Student’s Specialization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A8789F7-2DE1-4BD0-98A0-4D627E8C7924}"/>
              </a:ext>
            </a:extLst>
          </p:cNvPr>
          <p:cNvSpPr/>
          <p:nvPr userDrawn="1"/>
        </p:nvSpPr>
        <p:spPr>
          <a:xfrm>
            <a:off x="10134600" y="152400"/>
            <a:ext cx="1981200" cy="2286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Student Must add a professional photo to this cage</a:t>
            </a:r>
          </a:p>
        </p:txBody>
      </p:sp>
    </p:spTree>
    <p:extLst>
      <p:ext uri="{BB962C8B-B14F-4D97-AF65-F5344CB8AC3E}">
        <p14:creationId xmlns:p14="http://schemas.microsoft.com/office/powerpoint/2010/main" val="2008593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830358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570868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2650893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1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A75490AD-C6C9-4021-8C34-1F6444AB48BF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22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二等辺三角形 11"/>
          <p:cNvSpPr/>
          <p:nvPr userDrawn="1"/>
        </p:nvSpPr>
        <p:spPr>
          <a:xfrm>
            <a:off x="0" y="6406010"/>
            <a:ext cx="12192000" cy="452885"/>
          </a:xfrm>
          <a:prstGeom prst="triangle">
            <a:avLst>
              <a:gd name="adj" fmla="val 85448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55743003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752404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6120786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二等辺三角形 9"/>
          <p:cNvSpPr/>
          <p:nvPr userDrawn="1"/>
        </p:nvSpPr>
        <p:spPr>
          <a:xfrm>
            <a:off x="0" y="6482208"/>
            <a:ext cx="12192000" cy="376686"/>
          </a:xfrm>
          <a:prstGeom prst="triangle">
            <a:avLst>
              <a:gd name="adj" fmla="val 62762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  <p:sp>
        <p:nvSpPr>
          <p:cNvPr id="13" name="二等辺三角形 10"/>
          <p:cNvSpPr/>
          <p:nvPr userDrawn="1"/>
        </p:nvSpPr>
        <p:spPr>
          <a:xfrm>
            <a:off x="0" y="6676906"/>
            <a:ext cx="12192000" cy="181095"/>
          </a:xfrm>
          <a:prstGeom prst="triangle">
            <a:avLst>
              <a:gd name="adj" fmla="val 39397"/>
            </a:avLst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800"/>
          </a:p>
        </p:txBody>
      </p:sp>
    </p:spTree>
    <p:extLst>
      <p:ext uri="{BB962C8B-B14F-4D97-AF65-F5344CB8AC3E}">
        <p14:creationId xmlns:p14="http://schemas.microsoft.com/office/powerpoint/2010/main" val="33108502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11684000" cy="7921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4800" y="1143000"/>
            <a:ext cx="11684000" cy="5181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C064364F-1F37-4C7B-B31F-2D4F671B2CB9}"/>
              </a:ext>
            </a:extLst>
          </p:cNvPr>
          <p:cNvSpPr txBox="1">
            <a:spLocks/>
          </p:cNvSpPr>
          <p:nvPr userDrawn="1"/>
        </p:nvSpPr>
        <p:spPr>
          <a:xfrm>
            <a:off x="11435142" y="6492875"/>
            <a:ext cx="68065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7D6051F-EF20-4D26-A49B-A9D5F0B34CE8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 descr="A picture containing photo, table, person, monitor&#10;&#10;Description automatically generated">
            <a:extLst>
              <a:ext uri="{FF2B5EF4-FFF2-40B4-BE49-F238E27FC236}">
                <a16:creationId xmlns:a16="http://schemas.microsoft.com/office/drawing/2014/main" id="{0503738D-67F6-4FC8-88E8-C0D768AD331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6"/>
          <a:srcRect t="90286" r="71976"/>
          <a:stretch/>
        </p:blipFill>
        <p:spPr>
          <a:xfrm>
            <a:off x="0" y="6373302"/>
            <a:ext cx="2514600" cy="490308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16EC11E-4ADA-413C-92B1-C0871F068AF1}"/>
              </a:ext>
            </a:extLst>
          </p:cNvPr>
          <p:cNvSpPr txBox="1"/>
          <p:nvPr userDrawn="1"/>
        </p:nvSpPr>
        <p:spPr>
          <a:xfrm>
            <a:off x="10287000" y="6536937"/>
            <a:ext cx="10668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fld id="{98C4007C-554A-4B16-A31C-089CB53EF86F}" type="datetime1">
              <a:rPr lang="en-US" sz="1200" b="1" smtClean="0"/>
              <a:t>5/4/2026</a:t>
            </a:fld>
            <a:endParaRPr lang="en-US" sz="1200" b="1"/>
          </a:p>
        </p:txBody>
      </p:sp>
    </p:spTree>
    <p:extLst>
      <p:ext uri="{BB962C8B-B14F-4D97-AF65-F5344CB8AC3E}">
        <p14:creationId xmlns:p14="http://schemas.microsoft.com/office/powerpoint/2010/main" val="4137453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50" r:id="rId3"/>
    <p:sldLayoutId id="2147483662" r:id="rId4"/>
    <p:sldLayoutId id="2147483651" r:id="rId5"/>
    <p:sldLayoutId id="2147483660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Adobe Devanagari" pitchFamily="18" charset="0"/>
          <a:ea typeface="+mj-ea"/>
          <a:cs typeface="Adobe Devanagari" pitchFamily="18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Wingdings" pitchFamily="2" charset="2"/>
        <a:buChar char="Ø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jpeg"/><Relationship Id="rId7" Type="http://schemas.openxmlformats.org/officeDocument/2006/relationships/image" Target="../media/image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9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B788473F-083A-F10E-5721-F3C7B28AC90D}"/>
              </a:ext>
            </a:extLst>
          </p:cNvPr>
          <p:cNvSpPr/>
          <p:nvPr/>
        </p:nvSpPr>
        <p:spPr>
          <a:xfrm>
            <a:off x="363794" y="403122"/>
            <a:ext cx="11405419" cy="5813033"/>
          </a:xfrm>
          <a:prstGeom prst="rect">
            <a:avLst/>
          </a:prstGeom>
          <a:noFill/>
          <a:ln>
            <a:solidFill>
              <a:srgbClr val="04617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Google Shape;122;p3">
            <a:extLst>
              <a:ext uri="{FF2B5EF4-FFF2-40B4-BE49-F238E27FC236}">
                <a16:creationId xmlns:a16="http://schemas.microsoft.com/office/drawing/2014/main" id="{A7BDE53D-B417-8D5F-ACBD-A542B1CCE6DC}"/>
              </a:ext>
            </a:extLst>
          </p:cNvPr>
          <p:cNvSpPr/>
          <p:nvPr/>
        </p:nvSpPr>
        <p:spPr>
          <a:xfrm flipH="1">
            <a:off x="8332395" y="2601300"/>
            <a:ext cx="3451332" cy="3614855"/>
          </a:xfrm>
          <a:prstGeom prst="rtTriangle">
            <a:avLst/>
          </a:prstGeom>
          <a:gradFill>
            <a:gsLst>
              <a:gs pos="0">
                <a:srgbClr val="EAFAFC"/>
              </a:gs>
              <a:gs pos="50000">
                <a:srgbClr val="7D98B1"/>
              </a:gs>
              <a:gs pos="100000">
                <a:srgbClr val="04617B"/>
              </a:gs>
            </a:gsLst>
            <a:lin ang="5400000" scaled="1"/>
          </a:gra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 descr="A person on a motorcycle with a box on his back&#10;&#10;AI-generated content may be incorrect.">
            <a:extLst>
              <a:ext uri="{FF2B5EF4-FFF2-40B4-BE49-F238E27FC236}">
                <a16:creationId xmlns:a16="http://schemas.microsoft.com/office/drawing/2014/main" id="{03758110-5C48-667B-FF88-84FCE77EFED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1500" y="2927495"/>
            <a:ext cx="4306654" cy="3692195"/>
          </a:xfrm>
          <a:prstGeom prst="rect">
            <a:avLst/>
          </a:prstGeom>
        </p:spPr>
      </p:pic>
      <p:sp>
        <p:nvSpPr>
          <p:cNvPr id="6" name="Title 3">
            <a:extLst>
              <a:ext uri="{FF2B5EF4-FFF2-40B4-BE49-F238E27FC236}">
                <a16:creationId xmlns:a16="http://schemas.microsoft.com/office/drawing/2014/main" id="{CBC672EF-FE71-0DD3-4D02-96DAEB4B6E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735394" y="911029"/>
            <a:ext cx="8721212" cy="1470025"/>
          </a:xfrm>
        </p:spPr>
        <p:txBody>
          <a:bodyPr>
            <a:normAutofit fontScale="90000"/>
          </a:bodyPr>
          <a:lstStyle/>
          <a:p>
            <a:r>
              <a:rPr lang="en-US" b="1">
                <a:solidFill>
                  <a:schemeClr val="tx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SST - BASED SMART HELMET FOR CYCLISTS AND MOTOR CYCLISTS</a:t>
            </a:r>
          </a:p>
        </p:txBody>
      </p:sp>
      <p:sp>
        <p:nvSpPr>
          <p:cNvPr id="7" name="Subtitle 4">
            <a:extLst>
              <a:ext uri="{FF2B5EF4-FFF2-40B4-BE49-F238E27FC236}">
                <a16:creationId xmlns:a16="http://schemas.microsoft.com/office/drawing/2014/main" id="{81AC708D-2BB6-7DFC-E7BD-5C9C6280C4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2498144"/>
            <a:ext cx="8534400" cy="175260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ea typeface="Cambria"/>
              </a:rPr>
              <a:t>25-26J-294</a:t>
            </a:r>
            <a:endParaRPr lang="en-US"/>
          </a:p>
        </p:txBody>
      </p:sp>
      <p:pic>
        <p:nvPicPr>
          <p:cNvPr id="12" name="Picture 11" descr="A black and red motorcycle helmet&#10;&#10;AI-generated content may be incorrect.">
            <a:extLst>
              <a:ext uri="{FF2B5EF4-FFF2-40B4-BE49-F238E27FC236}">
                <a16:creationId xmlns:a16="http://schemas.microsoft.com/office/drawing/2014/main" id="{36BD162A-5570-ECAC-E868-EA030913126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9977" y="2702527"/>
            <a:ext cx="2487030" cy="3096434"/>
          </a:xfrm>
          <a:prstGeom prst="rect">
            <a:avLst/>
          </a:prstGeom>
        </p:spPr>
      </p:pic>
      <p:pic>
        <p:nvPicPr>
          <p:cNvPr id="14" name="Picture 13" descr="A close up of a watch&#10;&#10;AI-generated content may be incorrect.">
            <a:extLst>
              <a:ext uri="{FF2B5EF4-FFF2-40B4-BE49-F238E27FC236}">
                <a16:creationId xmlns:a16="http://schemas.microsoft.com/office/drawing/2014/main" id="{2556E4D1-BDB4-DE94-9705-EDAAC7D061D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9007" y="3468624"/>
            <a:ext cx="1957844" cy="2948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5524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E8DCF9-1CDB-FBB1-2E14-5D2D38D45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tangle 57">
            <a:extLst>
              <a:ext uri="{FF2B5EF4-FFF2-40B4-BE49-F238E27FC236}">
                <a16:creationId xmlns:a16="http://schemas.microsoft.com/office/drawing/2014/main" id="{EA1B0166-4E4C-951F-010C-7E7EC325541F}"/>
              </a:ext>
            </a:extLst>
          </p:cNvPr>
          <p:cNvSpPr/>
          <p:nvPr/>
        </p:nvSpPr>
        <p:spPr>
          <a:xfrm>
            <a:off x="859536" y="594360"/>
            <a:ext cx="10232136" cy="4334256"/>
          </a:xfrm>
          <a:prstGeom prst="rect">
            <a:avLst/>
          </a:prstGeom>
          <a:noFill/>
          <a:ln w="76200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57C9DB43-4475-0401-D36C-6CA54FAB0661}"/>
              </a:ext>
            </a:extLst>
          </p:cNvPr>
          <p:cNvSpPr txBox="1"/>
          <p:nvPr/>
        </p:nvSpPr>
        <p:spPr>
          <a:xfrm>
            <a:off x="4140894" y="292090"/>
            <a:ext cx="3268176" cy="705321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00"/>
              </a:lnSpc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Cambria (Body)"/>
              </a:rPr>
              <a:t>OUR TEAM</a:t>
            </a:r>
            <a:endParaRPr lang="en-US" sz="5400" dirty="0">
              <a:solidFill>
                <a:schemeClr val="tx2">
                  <a:lumMod val="50000"/>
                </a:schemeClr>
              </a:solidFill>
              <a:latin typeface="Cambria (Body)"/>
              <a:ea typeface="Cambria Bold"/>
              <a:cs typeface="Cambria Bold"/>
              <a:sym typeface="Cambria Bold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EF99FC-9EC4-3606-F9C1-9FA3D1BB270C}"/>
              </a:ext>
            </a:extLst>
          </p:cNvPr>
          <p:cNvSpPr txBox="1"/>
          <p:nvPr/>
        </p:nvSpPr>
        <p:spPr>
          <a:xfrm>
            <a:off x="2273153" y="3338773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Mr. Jagath </a:t>
            </a:r>
            <a:r>
              <a:rPr lang="en-GB" sz="1400" err="1">
                <a:ea typeface="Cambria"/>
              </a:rPr>
              <a:t>Wickramarathne</a:t>
            </a:r>
            <a:endParaRPr lang="en-US" sz="1400"/>
          </a:p>
        </p:txBody>
      </p:sp>
      <p:pic>
        <p:nvPicPr>
          <p:cNvPr id="32" name="Picture 31" descr="A person wearing glasses and a suit&#10;&#10;AI-generated content may be incorrect.">
            <a:extLst>
              <a:ext uri="{FF2B5EF4-FFF2-40B4-BE49-F238E27FC236}">
                <a16:creationId xmlns:a16="http://schemas.microsoft.com/office/drawing/2014/main" id="{866E11C0-F39A-3289-6FB1-B16909EDBA6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94" t="1422" r="1868" b="1589"/>
          <a:stretch>
            <a:fillRect/>
          </a:stretch>
        </p:blipFill>
        <p:spPr>
          <a:xfrm>
            <a:off x="2720765" y="1633219"/>
            <a:ext cx="1480457" cy="1435895"/>
          </a:xfrm>
          <a:prstGeom prst="ellips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</p:pic>
      <p:sp>
        <p:nvSpPr>
          <p:cNvPr id="33" name="TextBox 32">
            <a:extLst>
              <a:ext uri="{FF2B5EF4-FFF2-40B4-BE49-F238E27FC236}">
                <a16:creationId xmlns:a16="http://schemas.microsoft.com/office/drawing/2014/main" id="{8520D372-3ADC-A651-F356-1434F7A2265D}"/>
              </a:ext>
            </a:extLst>
          </p:cNvPr>
          <p:cNvSpPr txBox="1"/>
          <p:nvPr/>
        </p:nvSpPr>
        <p:spPr>
          <a:xfrm>
            <a:off x="2281340" y="3119602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>
                <a:solidFill>
                  <a:srgbClr val="04617B"/>
                </a:solidFill>
                <a:ea typeface="Cambria"/>
              </a:rPr>
              <a:t>Supervisor</a:t>
            </a:r>
            <a:endParaRPr lang="en-US" sz="1400" b="1">
              <a:solidFill>
                <a:srgbClr val="04617B"/>
              </a:solidFill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5DF724-B320-FE11-407F-BA6B7433B0B7}"/>
              </a:ext>
            </a:extLst>
          </p:cNvPr>
          <p:cNvSpPr txBox="1"/>
          <p:nvPr/>
        </p:nvSpPr>
        <p:spPr>
          <a:xfrm>
            <a:off x="4747921" y="3338773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Mr. Amila Nuwan Alexander</a:t>
            </a:r>
            <a:endParaRPr lang="en-US" sz="140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146CF1FF-21DE-3768-AF15-1E1E6153597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76" t="8244" r="276" b="19014"/>
          <a:stretch>
            <a:fillRect/>
          </a:stretch>
        </p:blipFill>
        <p:spPr>
          <a:xfrm>
            <a:off x="5195533" y="1633219"/>
            <a:ext cx="1480457" cy="1435895"/>
          </a:xfrm>
          <a:prstGeom prst="ellips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</p:pic>
      <p:sp>
        <p:nvSpPr>
          <p:cNvPr id="36" name="TextBox 35">
            <a:extLst>
              <a:ext uri="{FF2B5EF4-FFF2-40B4-BE49-F238E27FC236}">
                <a16:creationId xmlns:a16="http://schemas.microsoft.com/office/drawing/2014/main" id="{7F3B2397-E828-6A24-0394-011857F5FB6B}"/>
              </a:ext>
            </a:extLst>
          </p:cNvPr>
          <p:cNvSpPr txBox="1"/>
          <p:nvPr/>
        </p:nvSpPr>
        <p:spPr>
          <a:xfrm>
            <a:off x="4756108" y="3119602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>
                <a:solidFill>
                  <a:srgbClr val="04617B"/>
                </a:solidFill>
                <a:ea typeface="Cambria"/>
              </a:rPr>
              <a:t>Co- Supervisor</a:t>
            </a:r>
            <a:endParaRPr lang="en-US" sz="1400" b="1">
              <a:solidFill>
                <a:srgbClr val="04617B"/>
              </a:solidFill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42C95EA-F926-10A6-B271-8EDE09343293}"/>
              </a:ext>
            </a:extLst>
          </p:cNvPr>
          <p:cNvSpPr txBox="1"/>
          <p:nvPr/>
        </p:nvSpPr>
        <p:spPr>
          <a:xfrm>
            <a:off x="7247252" y="3355841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Dr. Sajith Perera</a:t>
            </a:r>
            <a:endParaRPr lang="en-US" sz="1400"/>
          </a:p>
        </p:txBody>
      </p:sp>
      <p:pic>
        <p:nvPicPr>
          <p:cNvPr id="38" name="Picture 37">
            <a:extLst>
              <a:ext uri="{FF2B5EF4-FFF2-40B4-BE49-F238E27FC236}">
                <a16:creationId xmlns:a16="http://schemas.microsoft.com/office/drawing/2014/main" id="{8D70F216-4ED4-3565-5447-B25DEC7D98E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810" b="16544"/>
          <a:stretch>
            <a:fillRect/>
          </a:stretch>
        </p:blipFill>
        <p:spPr>
          <a:xfrm>
            <a:off x="7694864" y="1650287"/>
            <a:ext cx="1480457" cy="1435895"/>
          </a:xfrm>
          <a:prstGeom prst="ellips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9EBD6FEF-6E0C-872C-0389-D02DAA1DC850}"/>
              </a:ext>
            </a:extLst>
          </p:cNvPr>
          <p:cNvSpPr txBox="1"/>
          <p:nvPr/>
        </p:nvSpPr>
        <p:spPr>
          <a:xfrm>
            <a:off x="7255439" y="3136670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>
                <a:solidFill>
                  <a:srgbClr val="04617B"/>
                </a:solidFill>
                <a:ea typeface="Cambria"/>
              </a:rPr>
              <a:t>External Supervisor</a:t>
            </a:r>
            <a:endParaRPr lang="en-US" sz="1400" b="1">
              <a:solidFill>
                <a:srgbClr val="04617B"/>
              </a:solidFill>
            </a:endParaRP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70554B81-0680-4D3E-09F4-E440A2030792}"/>
              </a:ext>
            </a:extLst>
          </p:cNvPr>
          <p:cNvSpPr txBox="1"/>
          <p:nvPr/>
        </p:nvSpPr>
        <p:spPr>
          <a:xfrm>
            <a:off x="1532924" y="5899012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IT22595980</a:t>
            </a:r>
            <a:endParaRPr lang="en-US" sz="1400"/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3503D919-51E2-BE53-F69E-07975374D3C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31" r="231" b="24564"/>
          <a:stretch>
            <a:fillRect/>
          </a:stretch>
        </p:blipFill>
        <p:spPr>
          <a:xfrm>
            <a:off x="1980536" y="4193458"/>
            <a:ext cx="1480457" cy="1435895"/>
          </a:xfrm>
          <a:prstGeom prst="ellips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C1338B18-0027-06C8-CD17-24ECBD6C1D29}"/>
              </a:ext>
            </a:extLst>
          </p:cNvPr>
          <p:cNvSpPr txBox="1"/>
          <p:nvPr/>
        </p:nvSpPr>
        <p:spPr>
          <a:xfrm>
            <a:off x="1541111" y="5679841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>
                <a:solidFill>
                  <a:srgbClr val="04617B"/>
                </a:solidFill>
                <a:ea typeface="Cambria"/>
              </a:rPr>
              <a:t>Vithanage K.W.Y.L.N.</a:t>
            </a:r>
            <a:endParaRPr lang="en-US" sz="1400" b="1">
              <a:solidFill>
                <a:srgbClr val="04617B"/>
              </a:solidFill>
            </a:endParaRP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A3225BE2-CBE8-D674-8E33-30951DABBA41}"/>
              </a:ext>
            </a:extLst>
          </p:cNvPr>
          <p:cNvSpPr txBox="1"/>
          <p:nvPr/>
        </p:nvSpPr>
        <p:spPr>
          <a:xfrm>
            <a:off x="3590417" y="5899012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IT22207036</a:t>
            </a:r>
            <a:endParaRPr lang="en-US" sz="140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A001E47F-FB12-D5C5-7920-F6D8E2834804}"/>
              </a:ext>
            </a:extLst>
          </p:cNvPr>
          <p:cNvSpPr txBox="1"/>
          <p:nvPr/>
        </p:nvSpPr>
        <p:spPr>
          <a:xfrm>
            <a:off x="3598604" y="5679841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4617B"/>
                </a:solidFill>
              </a:rPr>
              <a:t>Samarakoon S.S.A.D.S.B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B8D920F4-307F-BDA8-175A-07307768582E}"/>
              </a:ext>
            </a:extLst>
          </p:cNvPr>
          <p:cNvSpPr txBox="1"/>
          <p:nvPr/>
        </p:nvSpPr>
        <p:spPr>
          <a:xfrm>
            <a:off x="5766795" y="5899012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IT22608086</a:t>
            </a:r>
            <a:endParaRPr lang="en-US" sz="1400"/>
          </a:p>
        </p:txBody>
      </p:sp>
      <p:pic>
        <p:nvPicPr>
          <p:cNvPr id="53" name="Picture 52">
            <a:extLst>
              <a:ext uri="{FF2B5EF4-FFF2-40B4-BE49-F238E27FC236}">
                <a16:creationId xmlns:a16="http://schemas.microsoft.com/office/drawing/2014/main" id="{A457B15A-D653-F389-3193-774AC2C0AE8E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022" t="-444" r="1022" b="28630"/>
          <a:stretch>
            <a:fillRect/>
          </a:stretch>
        </p:blipFill>
        <p:spPr>
          <a:xfrm>
            <a:off x="6214407" y="4193458"/>
            <a:ext cx="1480457" cy="1435895"/>
          </a:xfrm>
          <a:prstGeom prst="ellipse">
            <a:avLst/>
          </a:prstGeom>
          <a:ln w="57150">
            <a:solidFill>
              <a:schemeClr val="tx2">
                <a:lumMod val="50000"/>
              </a:schemeClr>
            </a:solidFill>
          </a:ln>
        </p:spPr>
      </p:pic>
      <p:sp>
        <p:nvSpPr>
          <p:cNvPr id="54" name="TextBox 53">
            <a:extLst>
              <a:ext uri="{FF2B5EF4-FFF2-40B4-BE49-F238E27FC236}">
                <a16:creationId xmlns:a16="http://schemas.microsoft.com/office/drawing/2014/main" id="{160A59DD-8B80-7827-C29D-0E5BCA026203}"/>
              </a:ext>
            </a:extLst>
          </p:cNvPr>
          <p:cNvSpPr txBox="1"/>
          <p:nvPr/>
        </p:nvSpPr>
        <p:spPr>
          <a:xfrm>
            <a:off x="5774982" y="5679841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 b="1">
                <a:solidFill>
                  <a:srgbClr val="04617B"/>
                </a:solidFill>
              </a:rPr>
              <a:t>Samarasinghe K.P.C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F253D5EC-4A1B-43C1-7B8C-440CC5FD3015}"/>
              </a:ext>
            </a:extLst>
          </p:cNvPr>
          <p:cNvSpPr txBox="1"/>
          <p:nvPr/>
        </p:nvSpPr>
        <p:spPr>
          <a:xfrm>
            <a:off x="7981614" y="5899012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>
                <a:ea typeface="Cambria"/>
              </a:rPr>
              <a:t>IT22216878</a:t>
            </a:r>
            <a:endParaRPr lang="en-US" sz="1400"/>
          </a:p>
        </p:txBody>
      </p:sp>
      <p:sp>
        <p:nvSpPr>
          <p:cNvPr id="57" name="TextBox 56">
            <a:extLst>
              <a:ext uri="{FF2B5EF4-FFF2-40B4-BE49-F238E27FC236}">
                <a16:creationId xmlns:a16="http://schemas.microsoft.com/office/drawing/2014/main" id="{09C381CA-EEFD-F262-42CC-5C454A5019FE}"/>
              </a:ext>
            </a:extLst>
          </p:cNvPr>
          <p:cNvSpPr txBox="1"/>
          <p:nvPr/>
        </p:nvSpPr>
        <p:spPr>
          <a:xfrm>
            <a:off x="7989801" y="5679841"/>
            <a:ext cx="2359305" cy="307777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GB" sz="1400" b="1" dirty="0" err="1">
                <a:solidFill>
                  <a:srgbClr val="04617B"/>
                </a:solidFill>
                <a:ea typeface="Cambria"/>
              </a:rPr>
              <a:t>Primasha</a:t>
            </a:r>
            <a:r>
              <a:rPr lang="en-GB" sz="1400" b="1" dirty="0">
                <a:solidFill>
                  <a:srgbClr val="04617B"/>
                </a:solidFill>
                <a:ea typeface="Cambria"/>
              </a:rPr>
              <a:t> W.G.R</a:t>
            </a:r>
            <a:endParaRPr lang="en-US" sz="1400" b="1" dirty="0">
              <a:solidFill>
                <a:srgbClr val="04617B"/>
              </a:solidFill>
            </a:endParaRPr>
          </a:p>
        </p:txBody>
      </p:sp>
      <p:pic>
        <p:nvPicPr>
          <p:cNvPr id="9" name="Picture 8" descr="A person in a white shirt&#10;&#10;AI-generated content may be incorrect.">
            <a:extLst>
              <a:ext uri="{FF2B5EF4-FFF2-40B4-BE49-F238E27FC236}">
                <a16:creationId xmlns:a16="http://schemas.microsoft.com/office/drawing/2014/main" id="{F1347CB8-4C5E-A25B-B8E7-E884C75530F2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40679" y="4134041"/>
            <a:ext cx="1481328" cy="1503450"/>
          </a:xfrm>
          <a:prstGeom prst="ellipse">
            <a:avLst/>
          </a:prstGeom>
          <a:ln w="57150" cap="rnd">
            <a:solidFill>
              <a:schemeClr val="tx2">
                <a:lumMod val="50000"/>
              </a:schemeClr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31" name="Picture 30" descr="A person standing in front of a wall with green leaves&#10;&#10;AI-generated content may be incorrect.">
            <a:extLst>
              <a:ext uri="{FF2B5EF4-FFF2-40B4-BE49-F238E27FC236}">
                <a16:creationId xmlns:a16="http://schemas.microsoft.com/office/drawing/2014/main" id="{2BEA0AE1-5F32-556E-68B8-FD4F2807FBBF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7264" y="4174219"/>
            <a:ext cx="1481328" cy="1417697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26258353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352857-24AB-9F42-8137-75CCD0395D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1470025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</a:rPr>
              <a:t>PP2</a:t>
            </a:r>
            <a:r>
              <a:rPr lang="en-US" b="1" dirty="0"/>
              <a:t>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</a:rPr>
              <a:t>Feedback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</a:rPr>
              <a:t> &amp;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</a:rPr>
              <a:t>Strategic</a:t>
            </a:r>
            <a:r>
              <a:rPr lang="en-US" b="1" dirty="0"/>
              <a:t> 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</a:rPr>
              <a:t>Actions</a:t>
            </a:r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E811B4F2-8E40-A699-FA06-279118FF99B0}"/>
              </a:ext>
            </a:extLst>
          </p:cNvPr>
          <p:cNvSpPr/>
          <p:nvPr/>
        </p:nvSpPr>
        <p:spPr>
          <a:xfrm>
            <a:off x="1028877" y="1470024"/>
            <a:ext cx="4861559" cy="405890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F8137841-59DE-B5BB-B1E3-FCD59504FE37}"/>
              </a:ext>
            </a:extLst>
          </p:cNvPr>
          <p:cNvSpPr/>
          <p:nvPr/>
        </p:nvSpPr>
        <p:spPr>
          <a:xfrm>
            <a:off x="1028877" y="1470025"/>
            <a:ext cx="4861559" cy="48020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1ADC056F-76C0-97C3-3476-E8B76F286893}"/>
              </a:ext>
            </a:extLst>
          </p:cNvPr>
          <p:cNvSpPr/>
          <p:nvPr/>
        </p:nvSpPr>
        <p:spPr>
          <a:xfrm>
            <a:off x="1028877" y="1470025"/>
            <a:ext cx="4861559" cy="48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PP2 Comments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FE7A01FA-FB33-3348-E9D2-EF95124D2870}"/>
              </a:ext>
            </a:extLst>
          </p:cNvPr>
          <p:cNvSpPr/>
          <p:nvPr/>
        </p:nvSpPr>
        <p:spPr>
          <a:xfrm>
            <a:off x="1211758" y="1997188"/>
            <a:ext cx="4429420" cy="297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Damage</a:t>
            </a:r>
            <a:endParaRPr 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66AC4D3E-4A3B-5729-28B3-7AD934FA2C26}"/>
              </a:ext>
            </a:extLst>
          </p:cNvPr>
          <p:cNvSpPr/>
          <p:nvPr/>
        </p:nvSpPr>
        <p:spPr>
          <a:xfrm>
            <a:off x="1211758" y="2225788"/>
            <a:ext cx="4678678" cy="66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integration damages the helmet shell, compromising protection.</a:t>
            </a:r>
            <a:endParaRPr lang="en-US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E1AC804C-DEDE-769C-2F00-FA709F98A734}"/>
              </a:ext>
            </a:extLst>
          </p:cNvPr>
          <p:cNvSpPr/>
          <p:nvPr/>
        </p:nvSpPr>
        <p:spPr>
          <a:xfrm>
            <a:off x="1211758" y="2979953"/>
            <a:ext cx="4429420" cy="297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Safety </a:t>
            </a:r>
            <a:endParaRPr lang="en-US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0EE591FA-E284-87F7-A71D-8153D3706C20}"/>
              </a:ext>
            </a:extLst>
          </p:cNvPr>
          <p:cNvSpPr/>
          <p:nvPr/>
        </p:nvSpPr>
        <p:spPr>
          <a:xfrm>
            <a:off x="1211757" y="3205249"/>
            <a:ext cx="4678677" cy="66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In-helmet speakers are harmful and distracting for drivers during motion.</a:t>
            </a:r>
            <a:endParaRPr lang="en-US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40243563-A1BB-6071-6FE0-F2137E50D4F8}"/>
              </a:ext>
            </a:extLst>
          </p:cNvPr>
          <p:cNvSpPr/>
          <p:nvPr/>
        </p:nvSpPr>
        <p:spPr>
          <a:xfrm>
            <a:off x="1211758" y="3988027"/>
            <a:ext cx="4429420" cy="297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EE207DBA-417A-EC25-0F6E-B2D55CBEADE1}"/>
              </a:ext>
            </a:extLst>
          </p:cNvPr>
          <p:cNvSpPr/>
          <p:nvPr/>
        </p:nvSpPr>
        <p:spPr>
          <a:xfrm>
            <a:off x="1211758" y="4237893"/>
            <a:ext cx="4429420" cy="66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EF7CB1F4-EE3D-6347-F556-BFE6C3BA9BCD}"/>
              </a:ext>
            </a:extLst>
          </p:cNvPr>
          <p:cNvSpPr/>
          <p:nvPr/>
        </p:nvSpPr>
        <p:spPr>
          <a:xfrm>
            <a:off x="6416041" y="1480666"/>
            <a:ext cx="4861559" cy="4048263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59CAEF1D-5414-4682-5CEA-F52EF506913E}"/>
              </a:ext>
            </a:extLst>
          </p:cNvPr>
          <p:cNvSpPr/>
          <p:nvPr/>
        </p:nvSpPr>
        <p:spPr>
          <a:xfrm>
            <a:off x="6416041" y="1470024"/>
            <a:ext cx="4861559" cy="394298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60E13F4C-1D52-36D5-F596-B34208676B55}"/>
              </a:ext>
            </a:extLst>
          </p:cNvPr>
          <p:cNvSpPr/>
          <p:nvPr/>
        </p:nvSpPr>
        <p:spPr>
          <a:xfrm>
            <a:off x="6416041" y="1470024"/>
            <a:ext cx="4861559" cy="3942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Taken</a:t>
            </a:r>
            <a:endParaRPr lang="en-US" sz="2000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176B77B6-770D-9B27-D388-5F65CBD04DAD}"/>
              </a:ext>
            </a:extLst>
          </p:cNvPr>
          <p:cNvSpPr/>
          <p:nvPr/>
        </p:nvSpPr>
        <p:spPr>
          <a:xfrm>
            <a:off x="6608750" y="2016465"/>
            <a:ext cx="4668850" cy="9746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dirty="0">
              <a:solidFill>
                <a:srgbClr val="1A1A2E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sensor housing for Exterior mounting to maintain shell structural integrity</a:t>
            </a:r>
            <a:endParaRPr lang="en-US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837E6ABA-A4D4-9D45-4361-071367003C12}"/>
              </a:ext>
            </a:extLst>
          </p:cNvPr>
          <p:cNvSpPr/>
          <p:nvPr/>
        </p:nvSpPr>
        <p:spPr>
          <a:xfrm>
            <a:off x="6608750" y="2806537"/>
            <a:ext cx="4429420" cy="24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D861E200-9F7F-3CA5-585A-A49BF0FDAF76}"/>
              </a:ext>
            </a:extLst>
          </p:cNvPr>
          <p:cNvSpPr/>
          <p:nvPr/>
        </p:nvSpPr>
        <p:spPr>
          <a:xfrm>
            <a:off x="6608750" y="3249062"/>
            <a:ext cx="4668850" cy="54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all internal speakers. Audio alerts now strictly routed via Mobile Application.</a:t>
            </a:r>
            <a:endParaRPr lang="en-US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960BA494-567E-B3C3-7BF7-C1547CA774DE}"/>
              </a:ext>
            </a:extLst>
          </p:cNvPr>
          <p:cNvSpPr/>
          <p:nvPr/>
        </p:nvSpPr>
        <p:spPr>
          <a:xfrm>
            <a:off x="6608750" y="3658418"/>
            <a:ext cx="4429420" cy="24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BA571595-7472-105A-E6D3-6570287A4114}"/>
              </a:ext>
            </a:extLst>
          </p:cNvPr>
          <p:cNvSpPr/>
          <p:nvPr/>
        </p:nvSpPr>
        <p:spPr>
          <a:xfrm>
            <a:off x="6608749" y="3883136"/>
            <a:ext cx="4622129" cy="93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22668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27BB0-4017-3D44-2367-BEF32F071C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C92DA2-12D8-52CA-34F8-2750020A45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0"/>
            <a:ext cx="10363200" cy="1470025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  <a:sym typeface="Archivo Black"/>
              </a:rPr>
              <a:t>PROBLEM &amp; MOTIVATION</a:t>
            </a:r>
            <a:endParaRPr lang="en-US" dirty="0"/>
          </a:p>
        </p:txBody>
      </p:sp>
      <p:sp>
        <p:nvSpPr>
          <p:cNvPr id="3" name="Shape 7">
            <a:extLst>
              <a:ext uri="{FF2B5EF4-FFF2-40B4-BE49-F238E27FC236}">
                <a16:creationId xmlns:a16="http://schemas.microsoft.com/office/drawing/2014/main" id="{5680E3B9-6C1B-6571-2620-231CA23F6EB5}"/>
              </a:ext>
            </a:extLst>
          </p:cNvPr>
          <p:cNvSpPr/>
          <p:nvPr/>
        </p:nvSpPr>
        <p:spPr>
          <a:xfrm>
            <a:off x="1028877" y="1470024"/>
            <a:ext cx="4861559" cy="4058906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8">
            <a:extLst>
              <a:ext uri="{FF2B5EF4-FFF2-40B4-BE49-F238E27FC236}">
                <a16:creationId xmlns:a16="http://schemas.microsoft.com/office/drawing/2014/main" id="{09F593CA-BA08-B8D1-F3F2-614FEC25EA94}"/>
              </a:ext>
            </a:extLst>
          </p:cNvPr>
          <p:cNvSpPr/>
          <p:nvPr/>
        </p:nvSpPr>
        <p:spPr>
          <a:xfrm>
            <a:off x="1028877" y="1470025"/>
            <a:ext cx="4861559" cy="480208"/>
          </a:xfrm>
          <a:prstGeom prst="rect">
            <a:avLst/>
          </a:prstGeom>
          <a:solidFill>
            <a:srgbClr val="1B2A6B"/>
          </a:solidFill>
          <a:ln w="12700">
            <a:solidFill>
              <a:srgbClr val="1B2A6B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Text 9">
            <a:extLst>
              <a:ext uri="{FF2B5EF4-FFF2-40B4-BE49-F238E27FC236}">
                <a16:creationId xmlns:a16="http://schemas.microsoft.com/office/drawing/2014/main" id="{2B18FB57-5BCD-8B4B-43EB-D99E962CAFDD}"/>
              </a:ext>
            </a:extLst>
          </p:cNvPr>
          <p:cNvSpPr/>
          <p:nvPr/>
        </p:nvSpPr>
        <p:spPr>
          <a:xfrm>
            <a:off x="1028877" y="1470025"/>
            <a:ext cx="4861559" cy="480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The "Safety Gap"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7" name="Text 10">
            <a:extLst>
              <a:ext uri="{FF2B5EF4-FFF2-40B4-BE49-F238E27FC236}">
                <a16:creationId xmlns:a16="http://schemas.microsoft.com/office/drawing/2014/main" id="{A710A0C1-EDF0-93DB-C50C-68F508424D6C}"/>
              </a:ext>
            </a:extLst>
          </p:cNvPr>
          <p:cNvSpPr/>
          <p:nvPr/>
        </p:nvSpPr>
        <p:spPr>
          <a:xfrm>
            <a:off x="1376648" y="1997188"/>
            <a:ext cx="4429420" cy="297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Passive Protection</a:t>
            </a:r>
            <a:endParaRPr 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9B7E2D35-FE59-589E-6BA5-D1A767379156}"/>
              </a:ext>
            </a:extLst>
          </p:cNvPr>
          <p:cNvSpPr/>
          <p:nvPr/>
        </p:nvSpPr>
        <p:spPr>
          <a:xfrm>
            <a:off x="1376648" y="2225788"/>
            <a:ext cx="4429420" cy="66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helmets only minimize damage after a crash they do nothing to prevent it.</a:t>
            </a:r>
            <a:endParaRPr lang="en-US" dirty="0"/>
          </a:p>
        </p:txBody>
      </p:sp>
      <p:sp>
        <p:nvSpPr>
          <p:cNvPr id="9" name="Text 12">
            <a:extLst>
              <a:ext uri="{FF2B5EF4-FFF2-40B4-BE49-F238E27FC236}">
                <a16:creationId xmlns:a16="http://schemas.microsoft.com/office/drawing/2014/main" id="{D6A3D9F7-152E-4DA2-D7A7-B380EA3E5F29}"/>
              </a:ext>
            </a:extLst>
          </p:cNvPr>
          <p:cNvSpPr/>
          <p:nvPr/>
        </p:nvSpPr>
        <p:spPr>
          <a:xfrm>
            <a:off x="1406628" y="2952559"/>
            <a:ext cx="4429420" cy="297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Invisible Risks</a:t>
            </a:r>
            <a:endParaRPr lang="en-US" dirty="0"/>
          </a:p>
        </p:txBody>
      </p:sp>
      <p:sp>
        <p:nvSpPr>
          <p:cNvPr id="10" name="Text 13">
            <a:extLst>
              <a:ext uri="{FF2B5EF4-FFF2-40B4-BE49-F238E27FC236}">
                <a16:creationId xmlns:a16="http://schemas.microsoft.com/office/drawing/2014/main" id="{ED9F01EF-7309-B526-830D-4E78B97EDD2A}"/>
              </a:ext>
            </a:extLst>
          </p:cNvPr>
          <p:cNvSpPr/>
          <p:nvPr/>
        </p:nvSpPr>
        <p:spPr>
          <a:xfrm>
            <a:off x="1406628" y="3286794"/>
            <a:ext cx="4429420" cy="66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factors like rider stress, fatigue, and mental distraction are currently unmonitored.</a:t>
            </a:r>
            <a:endParaRPr lang="en-US" dirty="0"/>
          </a:p>
        </p:txBody>
      </p:sp>
      <p:sp>
        <p:nvSpPr>
          <p:cNvPr id="11" name="Text 14">
            <a:extLst>
              <a:ext uri="{FF2B5EF4-FFF2-40B4-BE49-F238E27FC236}">
                <a16:creationId xmlns:a16="http://schemas.microsoft.com/office/drawing/2014/main" id="{C283C4C3-CDCB-B8CB-00D6-B19769076958}"/>
              </a:ext>
            </a:extLst>
          </p:cNvPr>
          <p:cNvSpPr/>
          <p:nvPr/>
        </p:nvSpPr>
        <p:spPr>
          <a:xfrm>
            <a:off x="1406628" y="4105787"/>
            <a:ext cx="4429420" cy="2972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Navigation</a:t>
            </a:r>
            <a:endParaRPr lang="en-US" dirty="0"/>
          </a:p>
        </p:txBody>
      </p:sp>
      <p:sp>
        <p:nvSpPr>
          <p:cNvPr id="12" name="Text 15">
            <a:extLst>
              <a:ext uri="{FF2B5EF4-FFF2-40B4-BE49-F238E27FC236}">
                <a16:creationId xmlns:a16="http://schemas.microsoft.com/office/drawing/2014/main" id="{68F58192-B08E-EA3C-BB1D-23C5AF92124A}"/>
              </a:ext>
            </a:extLst>
          </p:cNvPr>
          <p:cNvSpPr/>
          <p:nvPr/>
        </p:nvSpPr>
        <p:spPr>
          <a:xfrm>
            <a:off x="1406628" y="4382449"/>
            <a:ext cx="4429420" cy="66314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GPS lacks real-time, context-aware alerts for high-risk "Danger Zones".</a:t>
            </a:r>
            <a:endParaRPr lang="en-US" dirty="0"/>
          </a:p>
        </p:txBody>
      </p:sp>
      <p:sp>
        <p:nvSpPr>
          <p:cNvPr id="19" name="Shape 16">
            <a:extLst>
              <a:ext uri="{FF2B5EF4-FFF2-40B4-BE49-F238E27FC236}">
                <a16:creationId xmlns:a16="http://schemas.microsoft.com/office/drawing/2014/main" id="{A6C5C406-EB2A-5E9A-96E9-2FCEAED3AEE2}"/>
              </a:ext>
            </a:extLst>
          </p:cNvPr>
          <p:cNvSpPr/>
          <p:nvPr/>
        </p:nvSpPr>
        <p:spPr>
          <a:xfrm>
            <a:off x="6416041" y="1480666"/>
            <a:ext cx="4979727" cy="4048264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42B86D4B-D38E-C83A-A59F-4A3098433CC9}"/>
              </a:ext>
            </a:extLst>
          </p:cNvPr>
          <p:cNvSpPr/>
          <p:nvPr/>
        </p:nvSpPr>
        <p:spPr>
          <a:xfrm>
            <a:off x="6416041" y="1470023"/>
            <a:ext cx="4976036" cy="469657"/>
          </a:xfrm>
          <a:prstGeom prst="rect">
            <a:avLst/>
          </a:prstGeom>
          <a:solidFill>
            <a:srgbClr val="0D7377"/>
          </a:solidFill>
          <a:ln w="1270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BDBB1213-DD4A-94BA-5084-CA39D54B9921}"/>
              </a:ext>
            </a:extLst>
          </p:cNvPr>
          <p:cNvSpPr/>
          <p:nvPr/>
        </p:nvSpPr>
        <p:spPr>
          <a:xfrm>
            <a:off x="6416041" y="1642147"/>
            <a:ext cx="4861559" cy="903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MOTIVATION: Intelligent Prevention</a:t>
            </a:r>
            <a:endParaRPr lang="en-US" sz="2000" dirty="0"/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331ACE0-B9AC-D7CF-A1C0-CEC85DB9D0A9}"/>
              </a:ext>
            </a:extLst>
          </p:cNvPr>
          <p:cNvSpPr/>
          <p:nvPr/>
        </p:nvSpPr>
        <p:spPr>
          <a:xfrm>
            <a:off x="6773640" y="2033486"/>
            <a:ext cx="4429420" cy="24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Safety</a:t>
            </a:r>
            <a:endParaRPr lang="en-US" dirty="0"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9980AB94-5589-F6E3-A57B-A2F11E109038}"/>
              </a:ext>
            </a:extLst>
          </p:cNvPr>
          <p:cNvSpPr/>
          <p:nvPr/>
        </p:nvSpPr>
        <p:spPr>
          <a:xfrm>
            <a:off x="6773640" y="2279466"/>
            <a:ext cx="4429420" cy="54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Transforming the helmet from a reactive shell into an AI-driven preventative system.</a:t>
            </a:r>
            <a:endParaRPr lang="en-US" dirty="0"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D2240CFD-F946-0F96-E1F6-0DEBDF4F45D9}"/>
              </a:ext>
            </a:extLst>
          </p:cNvPr>
          <p:cNvSpPr/>
          <p:nvPr/>
        </p:nvSpPr>
        <p:spPr>
          <a:xfrm>
            <a:off x="6788630" y="2956314"/>
            <a:ext cx="4429420" cy="24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Physiological Insight</a:t>
            </a:r>
            <a:endParaRPr lang="en-US" dirty="0"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C683D9F-F7CF-2B24-1253-E347C4BB34C4}"/>
              </a:ext>
            </a:extLst>
          </p:cNvPr>
          <p:cNvSpPr/>
          <p:nvPr/>
        </p:nvSpPr>
        <p:spPr>
          <a:xfrm>
            <a:off x="6788630" y="3288126"/>
            <a:ext cx="4668850" cy="5445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EEG &amp; BLE to provide real-time feedback on the rider's internal state.</a:t>
            </a:r>
            <a:endParaRPr lang="en-US" dirty="0"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A99E302C-A098-C7CA-B654-A0E2FBF6B438}"/>
              </a:ext>
            </a:extLst>
          </p:cNvPr>
          <p:cNvSpPr/>
          <p:nvPr/>
        </p:nvSpPr>
        <p:spPr>
          <a:xfrm>
            <a:off x="6773640" y="4060440"/>
            <a:ext cx="4429420" cy="24408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Guidance</a:t>
            </a:r>
            <a:endParaRPr lang="en-US" dirty="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C7857528-75D6-3BDD-BFB1-771038B58411}"/>
              </a:ext>
            </a:extLst>
          </p:cNvPr>
          <p:cNvSpPr/>
          <p:nvPr/>
        </p:nvSpPr>
        <p:spPr>
          <a:xfrm>
            <a:off x="6773639" y="4293042"/>
            <a:ext cx="4622129" cy="93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Enhancing situational awareness through voice-guided risk assessments and personalized safety maps.</a:t>
            </a:r>
            <a:endParaRPr lang="en-US" dirty="0"/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C9687A14-0E9D-3D29-3011-600C531C03D4}"/>
              </a:ext>
            </a:extLst>
          </p:cNvPr>
          <p:cNvSpPr/>
          <p:nvPr/>
        </p:nvSpPr>
        <p:spPr>
          <a:xfrm>
            <a:off x="1183940" y="2098079"/>
            <a:ext cx="108340" cy="1149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27A7021B-2634-4910-4B87-55418E9064BD}"/>
              </a:ext>
            </a:extLst>
          </p:cNvPr>
          <p:cNvSpPr/>
          <p:nvPr/>
        </p:nvSpPr>
        <p:spPr>
          <a:xfrm>
            <a:off x="1183940" y="3051439"/>
            <a:ext cx="108340" cy="1149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B8ECF0FC-A865-D787-2599-FDBE93AE0406}"/>
              </a:ext>
            </a:extLst>
          </p:cNvPr>
          <p:cNvSpPr/>
          <p:nvPr/>
        </p:nvSpPr>
        <p:spPr>
          <a:xfrm>
            <a:off x="1202990" y="4196972"/>
            <a:ext cx="108340" cy="1149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94C0676-8BE3-9D61-B1FD-78132B473976}"/>
              </a:ext>
            </a:extLst>
          </p:cNvPr>
          <p:cNvSpPr/>
          <p:nvPr/>
        </p:nvSpPr>
        <p:spPr>
          <a:xfrm>
            <a:off x="6632246" y="2110886"/>
            <a:ext cx="108340" cy="1149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3D8208A-1AA9-30D1-111A-0DCB92A4E3EA}"/>
              </a:ext>
            </a:extLst>
          </p:cNvPr>
          <p:cNvSpPr/>
          <p:nvPr/>
        </p:nvSpPr>
        <p:spPr>
          <a:xfrm>
            <a:off x="6632246" y="3035671"/>
            <a:ext cx="108340" cy="1149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EC01A5A-AB64-6149-505C-7BAA64AA2781}"/>
              </a:ext>
            </a:extLst>
          </p:cNvPr>
          <p:cNvSpPr/>
          <p:nvPr/>
        </p:nvSpPr>
        <p:spPr>
          <a:xfrm>
            <a:off x="6651296" y="4162154"/>
            <a:ext cx="108340" cy="114902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542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0DF94E5-0C28-A862-8339-0643E480BCE5}"/>
              </a:ext>
            </a:extLst>
          </p:cNvPr>
          <p:cNvSpPr txBox="1"/>
          <p:nvPr/>
        </p:nvSpPr>
        <p:spPr>
          <a:xfrm>
            <a:off x="1197398" y="-27709"/>
            <a:ext cx="10241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System Architecture &amp; Integration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5F2D475-00D5-F36D-5A30-0E77912D923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97398" y="957212"/>
            <a:ext cx="9874554" cy="544358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8518644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D7B80B-404C-1CC1-6E21-98FF6CB6A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006CB94-A196-721B-2B2B-44C48D3B0B15}"/>
              </a:ext>
            </a:extLst>
          </p:cNvPr>
          <p:cNvSpPr txBox="1"/>
          <p:nvPr/>
        </p:nvSpPr>
        <p:spPr>
          <a:xfrm>
            <a:off x="514352" y="534151"/>
            <a:ext cx="10241135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400" dirty="0"/>
              <a:t>DATA COLLECTION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76CABE-8FDC-D2F1-1B6C-5B9F2D43B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83096" y="2244273"/>
            <a:ext cx="2441121" cy="325482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1E43900-57E6-CF03-B3C0-AEAA6B2B66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5609" y="2244273"/>
            <a:ext cx="3343276" cy="32548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DB1ACAC-86E1-69B2-99AB-741C2EE5F5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80430" y="2244273"/>
            <a:ext cx="2441121" cy="325482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05210C4-A600-286A-AAD7-588BD5CA0D3C}"/>
              </a:ext>
            </a:extLst>
          </p:cNvPr>
          <p:cNvSpPr txBox="1"/>
          <p:nvPr/>
        </p:nvSpPr>
        <p:spPr>
          <a:xfrm>
            <a:off x="1953079" y="1874941"/>
            <a:ext cx="1030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Watch</a:t>
            </a:r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C069910-3F95-FFC6-B9D8-AC7827588493}"/>
              </a:ext>
            </a:extLst>
          </p:cNvPr>
          <p:cNvSpPr txBox="1"/>
          <p:nvPr/>
        </p:nvSpPr>
        <p:spPr>
          <a:xfrm>
            <a:off x="5580743" y="1877539"/>
            <a:ext cx="1030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Helmet</a:t>
            </a:r>
            <a:endParaRPr lang="en-US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FD2E3E-714C-E120-1D2B-F287F4E1F047}"/>
              </a:ext>
            </a:extLst>
          </p:cNvPr>
          <p:cNvSpPr txBox="1"/>
          <p:nvPr/>
        </p:nvSpPr>
        <p:spPr>
          <a:xfrm>
            <a:off x="8939895" y="1877539"/>
            <a:ext cx="103051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Rider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1234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79F425-7939-B164-0F18-7DDDB1E6C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49A96A6-E25E-F977-B6DE-9172C01B386C}"/>
              </a:ext>
            </a:extLst>
          </p:cNvPr>
          <p:cNvSpPr/>
          <p:nvPr/>
        </p:nvSpPr>
        <p:spPr>
          <a:xfrm>
            <a:off x="2632435" y="6492874"/>
            <a:ext cx="7237279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n-US" b="1">
                <a:solidFill>
                  <a:schemeClr val="tx1"/>
                </a:solidFill>
              </a:rPr>
              <a:t>IT22595980</a:t>
            </a:r>
            <a:r>
              <a:rPr lang="en-US" sz="1800">
                <a:solidFill>
                  <a:schemeClr val="tx1"/>
                </a:solidFill>
              </a:rPr>
              <a:t>| </a:t>
            </a:r>
            <a:r>
              <a:rPr lang="en-US" b="1">
                <a:solidFill>
                  <a:schemeClr val="tx1"/>
                </a:solidFill>
              </a:rPr>
              <a:t>Vithanage K.W.Y.L.N. </a:t>
            </a:r>
            <a:r>
              <a:rPr lang="en-US">
                <a:solidFill>
                  <a:schemeClr val="tx1"/>
                </a:solidFill>
              </a:rPr>
              <a:t>|</a:t>
            </a:r>
            <a:r>
              <a:rPr lang="en-US" sz="1800">
                <a:solidFill>
                  <a:schemeClr val="tx1"/>
                </a:solidFill>
              </a:rPr>
              <a:t>   </a:t>
            </a:r>
            <a:r>
              <a:rPr lang="en-US">
                <a:solidFill>
                  <a:schemeClr val="tx1"/>
                </a:solidFill>
              </a:rPr>
              <a:t>25-26J-294</a:t>
            </a:r>
            <a:endParaRPr lang="en-US" sz="1800" b="0">
              <a:solidFill>
                <a:schemeClr val="tx1"/>
              </a:solidFill>
            </a:endParaRP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1FCE9AF1-796E-5A1D-4234-2F7079A49C0C}"/>
              </a:ext>
            </a:extLst>
          </p:cNvPr>
          <p:cNvSpPr txBox="1"/>
          <p:nvPr/>
        </p:nvSpPr>
        <p:spPr>
          <a:xfrm>
            <a:off x="2912449" y="692384"/>
            <a:ext cx="7650954" cy="14106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500"/>
              </a:lnSpc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Cambria (Body)"/>
              </a:rPr>
              <a:t>HEALTH MONITORING </a:t>
            </a:r>
          </a:p>
          <a:p>
            <a:pPr>
              <a:lnSpc>
                <a:spcPts val="5500"/>
              </a:lnSpc>
            </a:pPr>
            <a:r>
              <a:rPr lang="en-US" sz="5400" dirty="0">
                <a:solidFill>
                  <a:schemeClr val="tx2">
                    <a:lumMod val="50000"/>
                  </a:schemeClr>
                </a:solidFill>
                <a:latin typeface="Cambria (Body)"/>
              </a:rPr>
              <a:t>SYSTEM </a:t>
            </a:r>
            <a:endParaRPr lang="en-US" sz="5400" dirty="0">
              <a:solidFill>
                <a:schemeClr val="tx2">
                  <a:lumMod val="50000"/>
                </a:schemeClr>
              </a:solidFill>
              <a:latin typeface="Cambria (Body)"/>
              <a:ea typeface="Cambria Bold"/>
              <a:cs typeface="Cambria Bold"/>
              <a:sym typeface="Cambria Bold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2CDAC97-4CCC-567A-DD6D-542AB7CC5D98}"/>
              </a:ext>
            </a:extLst>
          </p:cNvPr>
          <p:cNvSpPr txBox="1"/>
          <p:nvPr/>
        </p:nvSpPr>
        <p:spPr>
          <a:xfrm>
            <a:off x="2843777" y="3005227"/>
            <a:ext cx="2743200" cy="338554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1600" b="1">
                <a:ea typeface="Cambria"/>
              </a:rPr>
              <a:t>25-26J-294</a:t>
            </a:r>
          </a:p>
        </p:txBody>
      </p:sp>
      <p:sp>
        <p:nvSpPr>
          <p:cNvPr id="15" name="Google Shape;205;p7">
            <a:extLst>
              <a:ext uri="{FF2B5EF4-FFF2-40B4-BE49-F238E27FC236}">
                <a16:creationId xmlns:a16="http://schemas.microsoft.com/office/drawing/2014/main" id="{C5936C50-EE9B-227D-0C48-4E9AB2EEA939}"/>
              </a:ext>
            </a:extLst>
          </p:cNvPr>
          <p:cNvSpPr/>
          <p:nvPr/>
        </p:nvSpPr>
        <p:spPr>
          <a:xfrm>
            <a:off x="-13102" y="3307597"/>
            <a:ext cx="2963651" cy="2900410"/>
          </a:xfrm>
          <a:prstGeom prst="rtTriangle">
            <a:avLst/>
          </a:prstGeom>
          <a:solidFill>
            <a:srgbClr val="4F6128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C73F3B1-AEC3-BEE3-AB50-ACD3E6133353}"/>
              </a:ext>
            </a:extLst>
          </p:cNvPr>
          <p:cNvSpPr/>
          <p:nvPr/>
        </p:nvSpPr>
        <p:spPr>
          <a:xfrm>
            <a:off x="31299" y="6059147"/>
            <a:ext cx="12192000" cy="148860"/>
          </a:xfrm>
          <a:prstGeom prst="rect">
            <a:avLst/>
          </a:prstGeom>
          <a:solidFill>
            <a:srgbClr val="4F61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CD1656E6-6FB5-B069-D059-032F498018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27" t="1574" r="-878" b="13522"/>
          <a:stretch>
            <a:fillRect/>
          </a:stretch>
        </p:blipFill>
        <p:spPr>
          <a:xfrm>
            <a:off x="9998467" y="130952"/>
            <a:ext cx="2152258" cy="2338944"/>
          </a:xfrm>
          <a:prstGeom prst="rect">
            <a:avLst/>
          </a:prstGeom>
        </p:spPr>
      </p:pic>
      <p:pic>
        <p:nvPicPr>
          <p:cNvPr id="2" name="Picture 1" descr="A cartoon of a person riding a scooter&#10;&#10;AI-generated content may be incorrect.">
            <a:extLst>
              <a:ext uri="{FF2B5EF4-FFF2-40B4-BE49-F238E27FC236}">
                <a16:creationId xmlns:a16="http://schemas.microsoft.com/office/drawing/2014/main" id="{8169DAEA-4F4A-F3B1-155F-7E1CEC380CD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2026" y="2542805"/>
            <a:ext cx="3967949" cy="367757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F51691E-8894-9F6E-7962-F1FD95D78DAB}"/>
              </a:ext>
            </a:extLst>
          </p:cNvPr>
          <p:cNvSpPr txBox="1"/>
          <p:nvPr/>
        </p:nvSpPr>
        <p:spPr>
          <a:xfrm>
            <a:off x="2843777" y="2488327"/>
            <a:ext cx="5856651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ea typeface="Cambria"/>
              </a:rPr>
              <a:t>IT22595980 | Vithanage K.W.Y.L.N</a:t>
            </a:r>
            <a:endParaRPr lang="en-US" sz="2800" b="1"/>
          </a:p>
        </p:txBody>
      </p:sp>
      <p:sp>
        <p:nvSpPr>
          <p:cNvPr id="5" name="TextBox 22">
            <a:extLst>
              <a:ext uri="{FF2B5EF4-FFF2-40B4-BE49-F238E27FC236}">
                <a16:creationId xmlns:a16="http://schemas.microsoft.com/office/drawing/2014/main" id="{814DB1A2-1614-ED82-99B3-E26F5FA3FD63}"/>
              </a:ext>
            </a:extLst>
          </p:cNvPr>
          <p:cNvSpPr txBox="1"/>
          <p:nvPr/>
        </p:nvSpPr>
        <p:spPr>
          <a:xfrm>
            <a:off x="2939373" y="3392333"/>
            <a:ext cx="7650954" cy="2154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spcBef>
                <a:spcPct val="0"/>
              </a:spcBef>
            </a:pPr>
            <a:r>
              <a:rPr lang="en-US" sz="1400"/>
              <a:t>BSc(Hons) in Information Technology Specializing in Information Technology</a:t>
            </a:r>
            <a:endParaRPr lang="en-US" sz="1400">
              <a:solidFill>
                <a:srgbClr val="000000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</p:spTree>
    <p:extLst>
      <p:ext uri="{BB962C8B-B14F-4D97-AF65-F5344CB8AC3E}">
        <p14:creationId xmlns:p14="http://schemas.microsoft.com/office/powerpoint/2010/main" val="9801830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A704A-A2F3-4760-456A-9D3F33D3D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BC547C4-67C5-E4DB-B854-4C86119CB7EA}"/>
              </a:ext>
            </a:extLst>
          </p:cNvPr>
          <p:cNvSpPr txBox="1"/>
          <p:nvPr/>
        </p:nvSpPr>
        <p:spPr>
          <a:xfrm>
            <a:off x="2846349" y="6488668"/>
            <a:ext cx="60941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IT22595980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b="1" dirty="0">
                <a:solidFill>
                  <a:schemeClr val="tx1"/>
                </a:solidFill>
              </a:rPr>
              <a:t>Vithanage K.W.Y.L.N. </a:t>
            </a:r>
            <a:r>
              <a:rPr lang="en-US" dirty="0">
                <a:solidFill>
                  <a:schemeClr val="tx1"/>
                </a:solidFill>
              </a:rPr>
              <a:t>|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25-26J-294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5" name="Shape 0">
            <a:extLst>
              <a:ext uri="{FF2B5EF4-FFF2-40B4-BE49-F238E27FC236}">
                <a16:creationId xmlns:a16="http://schemas.microsoft.com/office/drawing/2014/main" id="{19CF52F7-F3A5-CAC5-E66B-31DA16770686}"/>
              </a:ext>
            </a:extLst>
          </p:cNvPr>
          <p:cNvSpPr/>
          <p:nvPr/>
        </p:nvSpPr>
        <p:spPr>
          <a:xfrm>
            <a:off x="0" y="-1"/>
            <a:ext cx="12192000" cy="87549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pPr algn="ctr">
              <a:lnSpc>
                <a:spcPts val="5000"/>
              </a:lnSpc>
            </a:pPr>
            <a:r>
              <a:rPr lang="en-US" sz="3600" b="1" dirty="0">
                <a:solidFill>
                  <a:schemeClr val="bg1"/>
                </a:solidFill>
              </a:rPr>
              <a:t>Health Monitoring System</a:t>
            </a:r>
            <a:endParaRPr lang="en-US" sz="3600" b="1" dirty="0">
              <a:solidFill>
                <a:schemeClr val="bg1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EBF0D908-37FD-8C14-3D11-B026ACCAFEF8}"/>
              </a:ext>
            </a:extLst>
          </p:cNvPr>
          <p:cNvSpPr/>
          <p:nvPr/>
        </p:nvSpPr>
        <p:spPr>
          <a:xfrm>
            <a:off x="304800" y="2506066"/>
            <a:ext cx="11531600" cy="1209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predictive health analytics engine using longitudinal EEG and physiological sensor data to estimate cardiovascular risk scores for each rider session.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route-risk data with health parameters to generate personalised post-ride health reports and early-warning push alerts for high-risk riders.</a:t>
            </a:r>
            <a:endParaRPr lang="en-US" dirty="0"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AFE1CF77-DA87-8105-24A9-D2F3560E02C9}"/>
              </a:ext>
            </a:extLst>
          </p:cNvPr>
          <p:cNvSpPr/>
          <p:nvPr/>
        </p:nvSpPr>
        <p:spPr>
          <a:xfrm>
            <a:off x="304800" y="3715106"/>
            <a:ext cx="11531600" cy="6675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the health prediction engine with the route-risk model in the hybrid decision layer — the system now correlates rider physiological state with environmental danger to produce composite risk scores.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3453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07A91C59-28F0-4A9C-ACA2-19A536A0C3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889108" y="4055791"/>
            <a:ext cx="5803293" cy="481035"/>
          </a:xfrm>
        </p:spPr>
        <p:txBody>
          <a:bodyPr>
            <a:noAutofit/>
          </a:bodyPr>
          <a:lstStyle/>
          <a:p>
            <a:pPr>
              <a:lnSpc>
                <a:spcPct val="120000"/>
              </a:lnSpc>
            </a:pPr>
            <a:r>
              <a:rPr lang="en-US" sz="1500" b="1">
                <a:solidFill>
                  <a:schemeClr val="tx1"/>
                </a:solidFill>
              </a:rPr>
              <a:t>BSc (Hons) in Information Technology Specializing in Information Technology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B3BAACE6-3A32-4B05-86B9-0627EA641BA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IT22207036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Samarakoon S.S.A.D.S.B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  <a:ea typeface="Cambria"/>
              </a:rPr>
              <a:t>25-26J-294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3" name="TextBox 17">
            <a:extLst>
              <a:ext uri="{FF2B5EF4-FFF2-40B4-BE49-F238E27FC236}">
                <a16:creationId xmlns:a16="http://schemas.microsoft.com/office/drawing/2014/main" id="{13F619D0-36EB-FDDE-A184-169A4B8F68C3}"/>
              </a:ext>
            </a:extLst>
          </p:cNvPr>
          <p:cNvSpPr txBox="1"/>
          <p:nvPr/>
        </p:nvSpPr>
        <p:spPr>
          <a:xfrm>
            <a:off x="2879583" y="491611"/>
            <a:ext cx="7115317" cy="1938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5800" dirty="0"/>
              <a:t>Emotion and Stress Monitoring with Real-Time Feedback</a:t>
            </a:r>
            <a:endParaRPr lang="en-US" sz="5800" b="1" dirty="0">
              <a:solidFill>
                <a:schemeClr val="tx2">
                  <a:lumMod val="50000"/>
                </a:schemeClr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DB140B2-FFDC-98A0-5314-6F9EE4790F0D}"/>
              </a:ext>
            </a:extLst>
          </p:cNvPr>
          <p:cNvSpPr txBox="1"/>
          <p:nvPr/>
        </p:nvSpPr>
        <p:spPr>
          <a:xfrm>
            <a:off x="2879583" y="3429000"/>
            <a:ext cx="638431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ea typeface="Cambria"/>
              </a:rPr>
              <a:t>IT22207036 | </a:t>
            </a:r>
            <a:r>
              <a:rPr lang="en-US" sz="2800" b="1"/>
              <a:t>Samarakoon S.S.A.D.S.B</a:t>
            </a:r>
          </a:p>
        </p:txBody>
      </p:sp>
      <p:sp>
        <p:nvSpPr>
          <p:cNvPr id="13" name="Google Shape;205;p7">
            <a:extLst>
              <a:ext uri="{FF2B5EF4-FFF2-40B4-BE49-F238E27FC236}">
                <a16:creationId xmlns:a16="http://schemas.microsoft.com/office/drawing/2014/main" id="{31F811C4-0E37-28D7-C674-1B2C947EBB42}"/>
              </a:ext>
            </a:extLst>
          </p:cNvPr>
          <p:cNvSpPr/>
          <p:nvPr/>
        </p:nvSpPr>
        <p:spPr>
          <a:xfrm>
            <a:off x="-13102" y="3307597"/>
            <a:ext cx="2963651" cy="2900410"/>
          </a:xfrm>
          <a:prstGeom prst="rtTriangle">
            <a:avLst/>
          </a:prstGeom>
          <a:solidFill>
            <a:srgbClr val="4F6128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6C7770D-464D-5683-DE2B-F4A27541F3AB}"/>
              </a:ext>
            </a:extLst>
          </p:cNvPr>
          <p:cNvSpPr/>
          <p:nvPr/>
        </p:nvSpPr>
        <p:spPr>
          <a:xfrm>
            <a:off x="161925" y="6059147"/>
            <a:ext cx="12192000" cy="148860"/>
          </a:xfrm>
          <a:prstGeom prst="rect">
            <a:avLst/>
          </a:prstGeom>
          <a:solidFill>
            <a:srgbClr val="4F61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cartoon of a person riding a motorcycle">
            <a:extLst>
              <a:ext uri="{FF2B5EF4-FFF2-40B4-BE49-F238E27FC236}">
                <a16:creationId xmlns:a16="http://schemas.microsoft.com/office/drawing/2014/main" id="{2EC36A62-0E14-E171-1AB5-90D26EB66E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5945" y="621604"/>
            <a:ext cx="5871270" cy="5871270"/>
          </a:xfrm>
          <a:prstGeom prst="rect">
            <a:avLst/>
          </a:prstGeom>
        </p:spPr>
      </p:pic>
      <p:pic>
        <p:nvPicPr>
          <p:cNvPr id="39" name="Picture 38" descr="A person in a white shirt&#10;&#10;AI-generated content may be incorrect.">
            <a:extLst>
              <a:ext uri="{FF2B5EF4-FFF2-40B4-BE49-F238E27FC236}">
                <a16:creationId xmlns:a16="http://schemas.microsoft.com/office/drawing/2014/main" id="{3266B4BF-9D4F-EDE4-2351-DB57400ACCE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13264" y="142728"/>
            <a:ext cx="2023872" cy="23535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6807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56AD65-A217-830D-1E0D-B5B146AA85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F7EB668D-5FD5-8862-64B7-46680D604D79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800" b="1">
                <a:solidFill>
                  <a:schemeClr val="tx1"/>
                </a:solidFill>
              </a:rPr>
              <a:t>IT22207036</a:t>
            </a:r>
            <a:r>
              <a:rPr lang="en-US" sz="1800">
                <a:solidFill>
                  <a:schemeClr val="tx1"/>
                </a:solidFill>
              </a:rPr>
              <a:t>   |   </a:t>
            </a:r>
            <a:r>
              <a:rPr lang="en-US" sz="1800" b="1">
                <a:solidFill>
                  <a:schemeClr val="tx1"/>
                </a:solidFill>
              </a:rPr>
              <a:t>Samarakoon S.S.A.D.S.B   </a:t>
            </a:r>
            <a:r>
              <a:rPr lang="en-US" sz="1800">
                <a:solidFill>
                  <a:schemeClr val="tx1"/>
                </a:solidFill>
              </a:rPr>
              <a:t>|   </a:t>
            </a:r>
            <a:r>
              <a:rPr lang="en-US" b="1">
                <a:solidFill>
                  <a:schemeClr val="tx1"/>
                </a:solidFill>
                <a:ea typeface="Cambria"/>
              </a:rPr>
              <a:t>25-26J-294</a:t>
            </a:r>
            <a:endParaRPr lang="en-US" sz="1800" b="1">
              <a:solidFill>
                <a:schemeClr val="tx1"/>
              </a:solidFill>
            </a:endParaRPr>
          </a:p>
        </p:txBody>
      </p:sp>
      <p:sp>
        <p:nvSpPr>
          <p:cNvPr id="10" name="Shape 0">
            <a:extLst>
              <a:ext uri="{FF2B5EF4-FFF2-40B4-BE49-F238E27FC236}">
                <a16:creationId xmlns:a16="http://schemas.microsoft.com/office/drawing/2014/main" id="{B48238A6-63C1-838B-6E85-2D1600BFD0CA}"/>
              </a:ext>
            </a:extLst>
          </p:cNvPr>
          <p:cNvSpPr/>
          <p:nvPr/>
        </p:nvSpPr>
        <p:spPr>
          <a:xfrm>
            <a:off x="0" y="-1"/>
            <a:ext cx="12192000" cy="87549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CE0CB73-3A37-A943-DDE4-148208B29D35}"/>
              </a:ext>
            </a:extLst>
          </p:cNvPr>
          <p:cNvSpPr txBox="1"/>
          <p:nvPr/>
        </p:nvSpPr>
        <p:spPr>
          <a:xfrm>
            <a:off x="1" y="-1"/>
            <a:ext cx="12192000" cy="6782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000"/>
              </a:lnSpc>
            </a:pPr>
            <a:r>
              <a:rPr lang="en-US" sz="3600" b="1" dirty="0">
                <a:solidFill>
                  <a:schemeClr val="bg1"/>
                </a:solidFill>
              </a:rPr>
              <a:t>Emotion and Stress Monitoring with Real-Time Feedback</a:t>
            </a:r>
            <a:endParaRPr lang="en-US" sz="3600" b="1" dirty="0">
              <a:solidFill>
                <a:schemeClr val="bg1"/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D6EE0A0-254D-097C-92F0-D1C9E4B9F602}"/>
              </a:ext>
            </a:extLst>
          </p:cNvPr>
          <p:cNvSpPr txBox="1"/>
          <p:nvPr/>
        </p:nvSpPr>
        <p:spPr>
          <a:xfrm>
            <a:off x="618517" y="3102790"/>
            <a:ext cx="10954966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EEG sensors into the helmet hardware and built a real-time brainwave signal acquisition pipeline using ESP32.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an EfficientNetB0 CNN model classifying alpha/beta/theta/delta/gamma wave bands to detect cognitive fatigue and high stress. Achieved 88% classification accuracy.</a:t>
            </a:r>
            <a:endParaRPr lang="en-US" sz="1800" dirty="0"/>
          </a:p>
        </p:txBody>
      </p:sp>
      <p:sp>
        <p:nvSpPr>
          <p:cNvPr id="23" name="Text 9">
            <a:extLst>
              <a:ext uri="{FF2B5EF4-FFF2-40B4-BE49-F238E27FC236}">
                <a16:creationId xmlns:a16="http://schemas.microsoft.com/office/drawing/2014/main" id="{C2AFF33A-C8A3-F4BE-CB5B-D59F0FD56663}"/>
              </a:ext>
            </a:extLst>
          </p:cNvPr>
          <p:cNvSpPr/>
          <p:nvPr/>
        </p:nvSpPr>
        <p:spPr>
          <a:xfrm>
            <a:off x="620949" y="4354415"/>
            <a:ext cx="10954966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a second ResNet-based model to classify alert vs fatigue states and combined with the EEG pipeline to produce a hybrid real-time rider status output, enabling proactive voice alerts.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00519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D8EE9-FDC3-2F4C-9BE0-63AD8B0E2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A66C19B-1543-E55D-5FC3-47E9FA93FCC2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IT22608086</a:t>
            </a:r>
            <a:r>
              <a:rPr lang="en-US" sz="1800" dirty="0">
                <a:solidFill>
                  <a:schemeClr val="tx1"/>
                </a:solidFill>
              </a:rPr>
              <a:t>| </a:t>
            </a:r>
            <a:r>
              <a:rPr lang="en-US" b="1" dirty="0">
                <a:solidFill>
                  <a:schemeClr val="tx1"/>
                </a:solidFill>
              </a:rPr>
              <a:t>Samarasinghe K.P.C</a:t>
            </a:r>
            <a:r>
              <a:rPr lang="en-US" dirty="0">
                <a:solidFill>
                  <a:schemeClr val="tx1"/>
                </a:solidFill>
              </a:rPr>
              <a:t> |</a:t>
            </a:r>
            <a:r>
              <a:rPr lang="en-US" sz="1800" dirty="0">
                <a:solidFill>
                  <a:schemeClr val="tx1"/>
                </a:solidFill>
              </a:rPr>
              <a:t>   </a:t>
            </a:r>
            <a:r>
              <a:rPr lang="en-US" dirty="0">
                <a:solidFill>
                  <a:schemeClr val="tx1"/>
                </a:solidFill>
              </a:rPr>
              <a:t>25-26j-294</a:t>
            </a:r>
            <a:endParaRPr lang="en-US" sz="1800" b="0" dirty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3C0FFC9-E0A0-8878-6014-4CAD8C9131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4481" y="4044781"/>
            <a:ext cx="6816366" cy="481035"/>
          </a:xfrm>
        </p:spPr>
        <p:txBody>
          <a:bodyPr>
            <a:normAutofit fontScale="70000" lnSpcReduction="20000"/>
          </a:bodyPr>
          <a:lstStyle/>
          <a:p>
            <a:r>
              <a:rPr lang="en-US" b="1">
                <a:solidFill>
                  <a:schemeClr val="tx1"/>
                </a:solidFill>
              </a:rPr>
              <a:t>BSc (Hons) in Information Technology Specializing in Information Technology</a:t>
            </a:r>
          </a:p>
        </p:txBody>
      </p:sp>
      <p:sp>
        <p:nvSpPr>
          <p:cNvPr id="11" name="TextBox 17">
            <a:extLst>
              <a:ext uri="{FF2B5EF4-FFF2-40B4-BE49-F238E27FC236}">
                <a16:creationId xmlns:a16="http://schemas.microsoft.com/office/drawing/2014/main" id="{B7B3E2E8-A614-55FA-728E-69671A6AC554}"/>
              </a:ext>
            </a:extLst>
          </p:cNvPr>
          <p:cNvSpPr txBox="1"/>
          <p:nvPr/>
        </p:nvSpPr>
        <p:spPr>
          <a:xfrm>
            <a:off x="2946942" y="765750"/>
            <a:ext cx="7115317" cy="193828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5000"/>
              </a:lnSpc>
            </a:pPr>
            <a:r>
              <a:rPr lang="en-US" sz="6000" dirty="0"/>
              <a:t>Post Journey Risk Assessment And Report Generation</a:t>
            </a:r>
            <a:endParaRPr lang="en-US" sz="6000" b="1" dirty="0">
              <a:solidFill>
                <a:schemeClr val="tx2">
                  <a:lumMod val="50000"/>
                </a:schemeClr>
              </a:solidFill>
              <a:latin typeface="Cambria Bold"/>
              <a:ea typeface="Cambria Bold"/>
              <a:cs typeface="Cambria Bold"/>
              <a:sym typeface="Cambria Bold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4BC58CA-0823-B041-45B1-5C3BEC06DF38}"/>
              </a:ext>
            </a:extLst>
          </p:cNvPr>
          <p:cNvSpPr txBox="1"/>
          <p:nvPr/>
        </p:nvSpPr>
        <p:spPr>
          <a:xfrm>
            <a:off x="3064481" y="3245728"/>
            <a:ext cx="638431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800" b="1">
                <a:ea typeface="Cambria"/>
              </a:rPr>
              <a:t>IT22608086 | </a:t>
            </a:r>
            <a:r>
              <a:rPr lang="en-US" sz="2800" b="1"/>
              <a:t>Samarasinghe K.P.C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AB438-6066-42BA-B857-0A5D264B0652}"/>
              </a:ext>
            </a:extLst>
          </p:cNvPr>
          <p:cNvSpPr txBox="1"/>
          <p:nvPr/>
        </p:nvSpPr>
        <p:spPr>
          <a:xfrm>
            <a:off x="3064481" y="3768948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GB" sz="2000" b="1">
                <a:ea typeface="Cambria"/>
              </a:rPr>
              <a:t>25-26J-294</a:t>
            </a:r>
          </a:p>
        </p:txBody>
      </p:sp>
      <p:sp>
        <p:nvSpPr>
          <p:cNvPr id="15" name="Google Shape;205;p7">
            <a:extLst>
              <a:ext uri="{FF2B5EF4-FFF2-40B4-BE49-F238E27FC236}">
                <a16:creationId xmlns:a16="http://schemas.microsoft.com/office/drawing/2014/main" id="{A8970F04-2878-667D-2948-998DCF3DA5CA}"/>
              </a:ext>
            </a:extLst>
          </p:cNvPr>
          <p:cNvSpPr/>
          <p:nvPr/>
        </p:nvSpPr>
        <p:spPr>
          <a:xfrm>
            <a:off x="-13102" y="3307597"/>
            <a:ext cx="2963651" cy="2900410"/>
          </a:xfrm>
          <a:prstGeom prst="rtTriangle">
            <a:avLst/>
          </a:prstGeom>
          <a:solidFill>
            <a:srgbClr val="4F6128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16E366-D95D-1C9B-F5DD-A2C42BDA7D15}"/>
              </a:ext>
            </a:extLst>
          </p:cNvPr>
          <p:cNvSpPr/>
          <p:nvPr/>
        </p:nvSpPr>
        <p:spPr>
          <a:xfrm>
            <a:off x="161925" y="6059147"/>
            <a:ext cx="12192000" cy="148860"/>
          </a:xfrm>
          <a:prstGeom prst="rect">
            <a:avLst/>
          </a:prstGeom>
          <a:solidFill>
            <a:srgbClr val="4F61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7" name="Picture 16" descr="A cartoon of a person riding a motorcycle">
            <a:extLst>
              <a:ext uri="{FF2B5EF4-FFF2-40B4-BE49-F238E27FC236}">
                <a16:creationId xmlns:a16="http://schemas.microsoft.com/office/drawing/2014/main" id="{50F7B150-8037-791D-ECF7-8A31A82FDFE9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365946" y="555467"/>
            <a:ext cx="5937407" cy="5937407"/>
          </a:xfrm>
          <a:prstGeom prst="rect">
            <a:avLst/>
          </a:prstGeom>
        </p:spPr>
      </p:pic>
      <p:pic>
        <p:nvPicPr>
          <p:cNvPr id="22" name="Picture 21" descr="A person in a white shirt&#10;&#10;AI-generated content may be incorrect.">
            <a:extLst>
              <a:ext uri="{FF2B5EF4-FFF2-40B4-BE49-F238E27FC236}">
                <a16:creationId xmlns:a16="http://schemas.microsoft.com/office/drawing/2014/main" id="{FE1B7E85-F7D1-D96C-9FE4-8C5E0CEF327E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83" t="4058" r="15039" b="38936"/>
          <a:stretch>
            <a:fillRect/>
          </a:stretch>
        </p:blipFill>
        <p:spPr>
          <a:xfrm>
            <a:off x="9998467" y="140096"/>
            <a:ext cx="2142644" cy="2338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461467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8B9EA-C0BF-2F44-BE9C-4B617C824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2B3A26B-B540-E9F2-3AAD-FD13168D3F70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dirty="0">
                <a:solidFill>
                  <a:schemeClr val="tx1"/>
                </a:solidFill>
              </a:rPr>
              <a:t>IT22608086</a:t>
            </a:r>
            <a:r>
              <a:rPr lang="en-US" dirty="0">
                <a:solidFill>
                  <a:schemeClr val="tx1"/>
                </a:solidFill>
              </a:rPr>
              <a:t>| </a:t>
            </a:r>
            <a:r>
              <a:rPr lang="en-US" b="1" dirty="0">
                <a:solidFill>
                  <a:schemeClr val="tx1"/>
                </a:solidFill>
              </a:rPr>
              <a:t>Samarasinghe K.P.C</a:t>
            </a:r>
            <a:r>
              <a:rPr lang="en-US" dirty="0">
                <a:solidFill>
                  <a:schemeClr val="tx1"/>
                </a:solidFill>
              </a:rPr>
              <a:t> |   25-26j-294</a:t>
            </a:r>
          </a:p>
        </p:txBody>
      </p:sp>
      <p:sp>
        <p:nvSpPr>
          <p:cNvPr id="3" name="Shape 0">
            <a:extLst>
              <a:ext uri="{FF2B5EF4-FFF2-40B4-BE49-F238E27FC236}">
                <a16:creationId xmlns:a16="http://schemas.microsoft.com/office/drawing/2014/main" id="{3D5C1534-6D9B-A13F-B539-3FC544CD6A1F}"/>
              </a:ext>
            </a:extLst>
          </p:cNvPr>
          <p:cNvSpPr/>
          <p:nvPr/>
        </p:nvSpPr>
        <p:spPr>
          <a:xfrm>
            <a:off x="0" y="-1"/>
            <a:ext cx="12192000" cy="87549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Post</a:t>
            </a:r>
            <a:r>
              <a:rPr lang="en-US" sz="3600" b="1" dirty="0">
                <a:solidFill>
                  <a:schemeClr val="bg1"/>
                </a:solidFill>
                <a:latin typeface="+mj-lt"/>
              </a:rPr>
              <a:t> </a:t>
            </a:r>
            <a:r>
              <a:rPr lang="en-US" sz="3600" b="1" dirty="0">
                <a:solidFill>
                  <a:schemeClr val="bg1"/>
                </a:solidFill>
              </a:rPr>
              <a:t>Journey Risk Assessment And Report Generation</a:t>
            </a:r>
            <a:endParaRPr lang="en-US" sz="3600" b="1" dirty="0">
              <a:solidFill>
                <a:schemeClr val="bg1"/>
              </a:solidFill>
              <a:sym typeface="Cambria Bold"/>
            </a:endParaRPr>
          </a:p>
          <a:p>
            <a:endParaRPr lang="en-US" dirty="0"/>
          </a:p>
        </p:txBody>
      </p:sp>
      <p:sp>
        <p:nvSpPr>
          <p:cNvPr id="10" name="Text 9">
            <a:extLst>
              <a:ext uri="{FF2B5EF4-FFF2-40B4-BE49-F238E27FC236}">
                <a16:creationId xmlns:a16="http://schemas.microsoft.com/office/drawing/2014/main" id="{AB81E645-BEA1-8FCE-3251-76739613EF87}"/>
              </a:ext>
            </a:extLst>
          </p:cNvPr>
          <p:cNvSpPr/>
          <p:nvPr/>
        </p:nvSpPr>
        <p:spPr>
          <a:xfrm>
            <a:off x="408504" y="3841683"/>
            <a:ext cx="11414125" cy="93500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Integrated voice-guided alerts via the mobile app speaker, ensuring zero screen interaction during riding. Field-tested across 20 Colombo urban routes, achieving 4.3/5.0 UAT satisfaction score.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59FA31-3E18-D719-4CD4-816F19BA5884}"/>
              </a:ext>
            </a:extLst>
          </p:cNvPr>
          <p:cNvSpPr txBox="1"/>
          <p:nvPr/>
        </p:nvSpPr>
        <p:spPr>
          <a:xfrm>
            <a:off x="408504" y="2593988"/>
            <a:ext cx="11414125" cy="1251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and implemented the BLE communication protocol between the ESP32 helmet module and the Android mobile app. Achieved sub-200 </a:t>
            </a:r>
            <a:r>
              <a:rPr lang="en-US" sz="1800" dirty="0" err="1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</a:t>
            </a: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end-to-end latency.</a:t>
            </a:r>
            <a:endParaRPr lang="en-US" sz="18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the live safety dashboard displaying real-time stress levels, Danger Zone alerts, route risk indicators, and push notifications.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0115952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D1C5B-A25C-3689-D200-95958451E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69C67D-09B7-36CA-3998-09CAF27E103B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IT22216878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|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Primasha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W.G.R</a:t>
            </a:r>
            <a:r>
              <a:rPr kumimoji="0" lang="en-US" sz="1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   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|   25-26J-294</a:t>
            </a:r>
          </a:p>
        </p:txBody>
      </p:sp>
      <p:sp>
        <p:nvSpPr>
          <p:cNvPr id="35" name="Text Placeholder 5">
            <a:extLst>
              <a:ext uri="{FF2B5EF4-FFF2-40B4-BE49-F238E27FC236}">
                <a16:creationId xmlns:a16="http://schemas.microsoft.com/office/drawing/2014/main" id="{BB00245B-ACE3-AF23-850A-88D03585EF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064481" y="4347204"/>
            <a:ext cx="6816366" cy="481035"/>
          </a:xfrm>
        </p:spPr>
        <p:txBody>
          <a:bodyPr>
            <a:normAutofit fontScale="70000" lnSpcReduction="20000"/>
          </a:bodyPr>
          <a:lstStyle/>
          <a:p>
            <a:r>
              <a:rPr lang="en-US" b="1">
                <a:solidFill>
                  <a:schemeClr val="tx1"/>
                </a:solidFill>
              </a:rPr>
              <a:t>BSc (Hons) in Information Technology Specializing in Information Technology</a:t>
            </a:r>
          </a:p>
        </p:txBody>
      </p:sp>
      <p:sp>
        <p:nvSpPr>
          <p:cNvPr id="36" name="TextBox 17">
            <a:extLst>
              <a:ext uri="{FF2B5EF4-FFF2-40B4-BE49-F238E27FC236}">
                <a16:creationId xmlns:a16="http://schemas.microsoft.com/office/drawing/2014/main" id="{30AD9914-AAB3-D864-ACCB-7AEA7E1EC585}"/>
              </a:ext>
            </a:extLst>
          </p:cNvPr>
          <p:cNvSpPr txBox="1"/>
          <p:nvPr/>
        </p:nvSpPr>
        <p:spPr>
          <a:xfrm>
            <a:off x="2324347" y="593694"/>
            <a:ext cx="755650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+mn-ea"/>
                <a:cs typeface="+mn-cs"/>
              </a:rPr>
              <a:t>Danger Zone Detection &amp; Voice-Guided Riding Assistant 	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45843802-B14D-6471-12EC-EDBC6F8111AB}"/>
              </a:ext>
            </a:extLst>
          </p:cNvPr>
          <p:cNvSpPr txBox="1"/>
          <p:nvPr/>
        </p:nvSpPr>
        <p:spPr>
          <a:xfrm>
            <a:off x="3064481" y="3548151"/>
            <a:ext cx="6384319" cy="52322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IT22216878 | </a:t>
            </a:r>
            <a:r>
              <a:rPr kumimoji="0" lang="en-US" sz="2800" b="1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Primasha</a:t>
            </a:r>
            <a:r>
              <a:rPr kumimoji="0" lang="en-US" sz="2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dobe Devanagari"/>
                <a:ea typeface="+mn-ea"/>
                <a:cs typeface="+mn-cs"/>
              </a:rPr>
              <a:t> W.G.R</a:t>
            </a:r>
            <a:endParaRPr kumimoji="0" lang="en-US" sz="2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BE54ECC-62A3-1A68-0E54-E9B80DD698DA}"/>
              </a:ext>
            </a:extLst>
          </p:cNvPr>
          <p:cNvSpPr txBox="1"/>
          <p:nvPr/>
        </p:nvSpPr>
        <p:spPr>
          <a:xfrm>
            <a:off x="3064481" y="4071371"/>
            <a:ext cx="2743200" cy="400110"/>
          </a:xfrm>
          <a:prstGeom prst="rect">
            <a:avLst/>
          </a:prstGeom>
          <a:noFill/>
          <a:ln>
            <a:noFill/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20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mbria"/>
                <a:ea typeface="Cambria"/>
                <a:cs typeface="+mn-cs"/>
              </a:rPr>
              <a:t>25-26J-294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BAA1D235-7B11-86F8-11AB-5429AF154EA3}"/>
              </a:ext>
            </a:extLst>
          </p:cNvPr>
          <p:cNvSpPr/>
          <p:nvPr/>
        </p:nvSpPr>
        <p:spPr>
          <a:xfrm>
            <a:off x="161925" y="6059147"/>
            <a:ext cx="12192000" cy="148860"/>
          </a:xfrm>
          <a:prstGeom prst="rect">
            <a:avLst/>
          </a:prstGeom>
          <a:solidFill>
            <a:srgbClr val="4F612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mbria"/>
              <a:ea typeface="+mn-ea"/>
              <a:cs typeface="+mn-cs"/>
            </a:endParaRPr>
          </a:p>
        </p:txBody>
      </p:sp>
      <p:sp>
        <p:nvSpPr>
          <p:cNvPr id="41" name="Google Shape;205;p7">
            <a:extLst>
              <a:ext uri="{FF2B5EF4-FFF2-40B4-BE49-F238E27FC236}">
                <a16:creationId xmlns:a16="http://schemas.microsoft.com/office/drawing/2014/main" id="{FE86217F-3501-8EC4-14FE-DD044F6885B0}"/>
              </a:ext>
            </a:extLst>
          </p:cNvPr>
          <p:cNvSpPr/>
          <p:nvPr/>
        </p:nvSpPr>
        <p:spPr>
          <a:xfrm>
            <a:off x="-13102" y="3307597"/>
            <a:ext cx="2963651" cy="2900410"/>
          </a:xfrm>
          <a:prstGeom prst="rtTriangle">
            <a:avLst/>
          </a:prstGeom>
          <a:solidFill>
            <a:srgbClr val="4F6128"/>
          </a:solidFill>
          <a:ln w="25400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2" name="Picture 41" descr="A cartoon of a person riding a motorcycle">
            <a:extLst>
              <a:ext uri="{FF2B5EF4-FFF2-40B4-BE49-F238E27FC236}">
                <a16:creationId xmlns:a16="http://schemas.microsoft.com/office/drawing/2014/main" id="{2040A866-AFD6-301D-8293-7FE3DA2F532F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77869" y="1447800"/>
            <a:ext cx="5087556" cy="5087556"/>
          </a:xfrm>
          <a:prstGeom prst="rect">
            <a:avLst/>
          </a:prstGeom>
        </p:spPr>
      </p:pic>
      <p:pic>
        <p:nvPicPr>
          <p:cNvPr id="8" name="Picture 7" descr="A person standing in front of a wall with green leaves">
            <a:extLst>
              <a:ext uri="{FF2B5EF4-FFF2-40B4-BE49-F238E27FC236}">
                <a16:creationId xmlns:a16="http://schemas.microsoft.com/office/drawing/2014/main" id="{DD716517-BF53-2DBB-CC67-DAC648D1C01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2408" y="142392"/>
            <a:ext cx="2011680" cy="23175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3257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95A46A-D2B2-364F-20CF-BCA6EC60C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4686CD9-F40F-0BC1-F65F-CAC75B08158A}"/>
              </a:ext>
            </a:extLst>
          </p:cNvPr>
          <p:cNvSpPr/>
          <p:nvPr/>
        </p:nvSpPr>
        <p:spPr>
          <a:xfrm>
            <a:off x="2632435" y="6492874"/>
            <a:ext cx="6816365" cy="3651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b="1" dirty="0">
                <a:solidFill>
                  <a:prstClr val="black"/>
                </a:solidFill>
              </a:rPr>
              <a:t>IT22216878</a:t>
            </a:r>
            <a:r>
              <a:rPr lang="en-US" dirty="0">
                <a:solidFill>
                  <a:prstClr val="black"/>
                </a:solidFill>
              </a:rPr>
              <a:t>   | </a:t>
            </a:r>
            <a:r>
              <a:rPr lang="en-US" dirty="0" err="1">
                <a:solidFill>
                  <a:prstClr val="black"/>
                </a:solidFill>
              </a:rPr>
              <a:t>Primasha</a:t>
            </a:r>
            <a:r>
              <a:rPr lang="en-US" dirty="0">
                <a:solidFill>
                  <a:prstClr val="black"/>
                </a:solidFill>
              </a:rPr>
              <a:t> W.G.R</a:t>
            </a:r>
            <a:r>
              <a:rPr lang="en-US" b="1" dirty="0">
                <a:solidFill>
                  <a:prstClr val="black"/>
                </a:solidFill>
              </a:rPr>
              <a:t>   </a:t>
            </a:r>
            <a:r>
              <a:rPr lang="en-US" dirty="0">
                <a:solidFill>
                  <a:prstClr val="black"/>
                </a:solidFill>
              </a:rPr>
              <a:t>|   25-26J-294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1009148-6F4B-9957-EEB1-BA57E9D725FB}"/>
              </a:ext>
            </a:extLst>
          </p:cNvPr>
          <p:cNvSpPr/>
          <p:nvPr/>
        </p:nvSpPr>
        <p:spPr>
          <a:xfrm>
            <a:off x="1198757" y="680225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Danger Zone Identification &amp; Route Risk Mapping</a:t>
            </a:r>
            <a:endParaRPr lang="en-US" sz="140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C0B7C1D4-13EF-071A-31B5-7BE5D2C8AA4C}"/>
              </a:ext>
            </a:extLst>
          </p:cNvPr>
          <p:cNvSpPr/>
          <p:nvPr/>
        </p:nvSpPr>
        <p:spPr>
          <a:xfrm>
            <a:off x="509239" y="1269181"/>
            <a:ext cx="11173521" cy="12037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Developed a geospatial analytics module clustering historical incident data to auto-generate Danger Zone polygons on an interactive route safety map.</a:t>
            </a:r>
            <a:endParaRPr lang="en-US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Implemented path-risk scoring logic that rates each road segment and triggers real-time voice alerts when the rider approaches a high-risk zone</a:t>
            </a:r>
            <a:r>
              <a:rPr lang="en-US" sz="1050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2300DA9-75E4-8186-DD84-4EB20E492A07}"/>
              </a:ext>
            </a:extLst>
          </p:cNvPr>
          <p:cNvSpPr/>
          <p:nvPr/>
        </p:nvSpPr>
        <p:spPr>
          <a:xfrm>
            <a:off x="509238" y="2641098"/>
            <a:ext cx="11173521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solidFill>
                  <a:srgbClr val="333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YOLOv8 object detection with ResNet50 classification to create a hybrid route risk model, achieving &gt;92% positional accuracy in Danger Zone alert triggering during field tests.</a:t>
            </a:r>
            <a:endParaRPr lang="en-US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78FA1047-8598-AFFB-B936-48403109A23B}"/>
              </a:ext>
            </a:extLst>
          </p:cNvPr>
          <p:cNvSpPr/>
          <p:nvPr/>
        </p:nvSpPr>
        <p:spPr>
          <a:xfrm>
            <a:off x="0" y="-1"/>
            <a:ext cx="12192000" cy="875490"/>
          </a:xfrm>
          <a:prstGeom prst="rect">
            <a:avLst/>
          </a:prstGeom>
          <a:solidFill>
            <a:srgbClr val="1A1F5E"/>
          </a:solidFill>
          <a:ln w="12700">
            <a:solidFill>
              <a:srgbClr val="1A1F5E"/>
            </a:solidFill>
            <a:prstDash val="solid"/>
          </a:ln>
        </p:spPr>
        <p:txBody>
          <a:bodyPr/>
          <a:lstStyle/>
          <a:p>
            <a:pPr algn="ctr"/>
            <a:r>
              <a:rPr lang="en-US" sz="3600" b="1" dirty="0">
                <a:solidFill>
                  <a:schemeClr val="bg1"/>
                </a:solidFill>
              </a:rPr>
              <a:t>Danger Zone Detection &amp; Voice-Guided Riding Assistant</a:t>
            </a:r>
          </a:p>
        </p:txBody>
      </p:sp>
    </p:spTree>
    <p:extLst>
      <p:ext uri="{BB962C8B-B14F-4D97-AF65-F5344CB8AC3E}">
        <p14:creationId xmlns:p14="http://schemas.microsoft.com/office/powerpoint/2010/main" val="24884443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E408CB-BC9D-FE7C-06C0-790724C8E5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6760" y="0"/>
            <a:ext cx="10363200" cy="1470025"/>
          </a:xfrm>
        </p:spPr>
        <p:txBody>
          <a:bodyPr/>
          <a:lstStyle/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  <a:sym typeface="Archivo Black"/>
              </a:rPr>
              <a:t>LIMITATIONS &amp; FUTURE IMPROVEMENTS</a:t>
            </a:r>
            <a:endParaRPr lang="en-US" dirty="0">
              <a:solidFill>
                <a:schemeClr val="tx2">
                  <a:lumMod val="50000"/>
                </a:schemeClr>
              </a:solidFill>
              <a:latin typeface="Cambria (Body)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F2E60E-884C-0705-5912-CDB81CA426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46760" y="1175657"/>
            <a:ext cx="11289295" cy="1025283"/>
          </a:xfrm>
        </p:spPr>
        <p:txBody>
          <a:bodyPr>
            <a:normAutofit fontScale="25000" lnSpcReduction="20000"/>
          </a:bodyPr>
          <a:lstStyle/>
          <a:p>
            <a:r>
              <a:rPr lang="en-US" sz="8000" i="1" dirty="0">
                <a:solidFill>
                  <a:srgbClr val="3D44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traditional helmets effectively minimize damage post-collision, they remain fundamentally passive, failing to address the 'invisible risks' of rider fatigue, physiological stress, and dynamic environmental hazards.</a:t>
            </a:r>
          </a:p>
        </p:txBody>
      </p:sp>
      <p:sp>
        <p:nvSpPr>
          <p:cNvPr id="4" name="Shape 8">
            <a:extLst>
              <a:ext uri="{FF2B5EF4-FFF2-40B4-BE49-F238E27FC236}">
                <a16:creationId xmlns:a16="http://schemas.microsoft.com/office/drawing/2014/main" id="{8157521F-9B35-97E7-0476-2035C6AB3296}"/>
              </a:ext>
            </a:extLst>
          </p:cNvPr>
          <p:cNvSpPr/>
          <p:nvPr/>
        </p:nvSpPr>
        <p:spPr>
          <a:xfrm>
            <a:off x="1211544" y="2200940"/>
            <a:ext cx="4884456" cy="1690954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5" name="Shape 9">
            <a:extLst>
              <a:ext uri="{FF2B5EF4-FFF2-40B4-BE49-F238E27FC236}">
                <a16:creationId xmlns:a16="http://schemas.microsoft.com/office/drawing/2014/main" id="{CFB4B0F0-4710-2F63-EBDF-6F6C9B1DD2D2}"/>
              </a:ext>
            </a:extLst>
          </p:cNvPr>
          <p:cNvSpPr/>
          <p:nvPr/>
        </p:nvSpPr>
        <p:spPr>
          <a:xfrm>
            <a:off x="1339559" y="2475260"/>
            <a:ext cx="450873" cy="512064"/>
          </a:xfrm>
          <a:prstGeom prst="ellipse">
            <a:avLst/>
          </a:prstGeom>
          <a:solidFill>
            <a:srgbClr val="1B2A6B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10">
            <a:extLst>
              <a:ext uri="{FF2B5EF4-FFF2-40B4-BE49-F238E27FC236}">
                <a16:creationId xmlns:a16="http://schemas.microsoft.com/office/drawing/2014/main" id="{CD4AC520-4768-244B-F483-A464111003FF}"/>
              </a:ext>
            </a:extLst>
          </p:cNvPr>
          <p:cNvSpPr/>
          <p:nvPr/>
        </p:nvSpPr>
        <p:spPr>
          <a:xfrm>
            <a:off x="1339559" y="2475260"/>
            <a:ext cx="450873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11">
            <a:extLst>
              <a:ext uri="{FF2B5EF4-FFF2-40B4-BE49-F238E27FC236}">
                <a16:creationId xmlns:a16="http://schemas.microsoft.com/office/drawing/2014/main" id="{CA4CCAC0-C865-8BEB-C358-91524152D15C}"/>
              </a:ext>
            </a:extLst>
          </p:cNvPr>
          <p:cNvSpPr/>
          <p:nvPr/>
        </p:nvSpPr>
        <p:spPr>
          <a:xfrm>
            <a:off x="1805903" y="2292380"/>
            <a:ext cx="4025651" cy="4145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Limitations</a:t>
            </a:r>
            <a:endParaRPr lang="en-US" sz="2000" dirty="0"/>
          </a:p>
        </p:txBody>
      </p:sp>
      <p:sp>
        <p:nvSpPr>
          <p:cNvPr id="8" name="Text 12">
            <a:extLst>
              <a:ext uri="{FF2B5EF4-FFF2-40B4-BE49-F238E27FC236}">
                <a16:creationId xmlns:a16="http://schemas.microsoft.com/office/drawing/2014/main" id="{17A0379E-32BE-A46E-ECDA-F65A3F5091EB}"/>
              </a:ext>
            </a:extLst>
          </p:cNvPr>
          <p:cNvSpPr/>
          <p:nvPr/>
        </p:nvSpPr>
        <p:spPr>
          <a:xfrm>
            <a:off x="1805903" y="2559132"/>
            <a:ext cx="4025651" cy="999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Limited battery life for continuous EEG monitoring and sensor pods sensitivity to extreme weather conditions.</a:t>
            </a:r>
          </a:p>
        </p:txBody>
      </p:sp>
      <p:sp>
        <p:nvSpPr>
          <p:cNvPr id="9" name="Shape 13">
            <a:extLst>
              <a:ext uri="{FF2B5EF4-FFF2-40B4-BE49-F238E27FC236}">
                <a16:creationId xmlns:a16="http://schemas.microsoft.com/office/drawing/2014/main" id="{17B9676E-B519-DF12-F8FF-A6BCDBD20EC9}"/>
              </a:ext>
            </a:extLst>
          </p:cNvPr>
          <p:cNvSpPr/>
          <p:nvPr/>
        </p:nvSpPr>
        <p:spPr>
          <a:xfrm>
            <a:off x="6205727" y="2194559"/>
            <a:ext cx="4756440" cy="1719473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1" name="Text 15">
            <a:extLst>
              <a:ext uri="{FF2B5EF4-FFF2-40B4-BE49-F238E27FC236}">
                <a16:creationId xmlns:a16="http://schemas.microsoft.com/office/drawing/2014/main" id="{BFC60D54-7ABC-240E-2265-557D95561BF0}"/>
              </a:ext>
            </a:extLst>
          </p:cNvPr>
          <p:cNvSpPr/>
          <p:nvPr/>
        </p:nvSpPr>
        <p:spPr>
          <a:xfrm>
            <a:off x="6333744" y="2468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  <p:sp>
        <p:nvSpPr>
          <p:cNvPr id="12" name="Text 16">
            <a:extLst>
              <a:ext uri="{FF2B5EF4-FFF2-40B4-BE49-F238E27FC236}">
                <a16:creationId xmlns:a16="http://schemas.microsoft.com/office/drawing/2014/main" id="{DBB12BCB-DCC8-C1C2-B06D-1642A22538FA}"/>
              </a:ext>
            </a:extLst>
          </p:cNvPr>
          <p:cNvSpPr/>
          <p:nvPr/>
        </p:nvSpPr>
        <p:spPr>
          <a:xfrm>
            <a:off x="6800088" y="2286000"/>
            <a:ext cx="3429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2000" dirty="0"/>
          </a:p>
        </p:txBody>
      </p:sp>
      <p:sp>
        <p:nvSpPr>
          <p:cNvPr id="13" name="Text 17">
            <a:extLst>
              <a:ext uri="{FF2B5EF4-FFF2-40B4-BE49-F238E27FC236}">
                <a16:creationId xmlns:a16="http://schemas.microsoft.com/office/drawing/2014/main" id="{7DC175D0-6427-827F-BE67-5F7B85470A0D}"/>
              </a:ext>
            </a:extLst>
          </p:cNvPr>
          <p:cNvSpPr/>
          <p:nvPr/>
        </p:nvSpPr>
        <p:spPr>
          <a:xfrm>
            <a:off x="6800087" y="2539747"/>
            <a:ext cx="4023361" cy="118829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Integration of flexible solar panels for self-charging and vehicle-to-helmet (V2V) mesh communication for enhanced mesh safety.</a:t>
            </a:r>
          </a:p>
        </p:txBody>
      </p:sp>
      <p:sp>
        <p:nvSpPr>
          <p:cNvPr id="14" name="Shape 18">
            <a:extLst>
              <a:ext uri="{FF2B5EF4-FFF2-40B4-BE49-F238E27FC236}">
                <a16:creationId xmlns:a16="http://schemas.microsoft.com/office/drawing/2014/main" id="{2CE093CC-5B6A-319B-811D-350FFB4D1C8E}"/>
              </a:ext>
            </a:extLst>
          </p:cNvPr>
          <p:cNvSpPr/>
          <p:nvPr/>
        </p:nvSpPr>
        <p:spPr>
          <a:xfrm>
            <a:off x="1189967" y="4040694"/>
            <a:ext cx="4906033" cy="2221891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16" name="Text 20">
            <a:extLst>
              <a:ext uri="{FF2B5EF4-FFF2-40B4-BE49-F238E27FC236}">
                <a16:creationId xmlns:a16="http://schemas.microsoft.com/office/drawing/2014/main" id="{44E79364-1FEB-7F57-79C0-0FAA869F218E}"/>
              </a:ext>
            </a:extLst>
          </p:cNvPr>
          <p:cNvSpPr/>
          <p:nvPr/>
        </p:nvSpPr>
        <p:spPr>
          <a:xfrm>
            <a:off x="2017764" y="4315014"/>
            <a:ext cx="453018" cy="63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17" name="Text 21">
            <a:extLst>
              <a:ext uri="{FF2B5EF4-FFF2-40B4-BE49-F238E27FC236}">
                <a16:creationId xmlns:a16="http://schemas.microsoft.com/office/drawing/2014/main" id="{10A7DCC9-71F3-00B8-A6EA-A33586A5AEB1}"/>
              </a:ext>
            </a:extLst>
          </p:cNvPr>
          <p:cNvSpPr/>
          <p:nvPr/>
        </p:nvSpPr>
        <p:spPr>
          <a:xfrm>
            <a:off x="1937275" y="4132135"/>
            <a:ext cx="4044803" cy="51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Commercialization</a:t>
            </a:r>
            <a:endParaRPr lang="en-US" sz="2000" dirty="0"/>
          </a:p>
        </p:txBody>
      </p:sp>
      <p:sp>
        <p:nvSpPr>
          <p:cNvPr id="18" name="Text 22">
            <a:extLst>
              <a:ext uri="{FF2B5EF4-FFF2-40B4-BE49-F238E27FC236}">
                <a16:creationId xmlns:a16="http://schemas.microsoft.com/office/drawing/2014/main" id="{C818618A-3347-FA62-C428-F85AD508143B}"/>
              </a:ext>
            </a:extLst>
          </p:cNvPr>
          <p:cNvSpPr/>
          <p:nvPr/>
        </p:nvSpPr>
        <p:spPr>
          <a:xfrm>
            <a:off x="1937275" y="4500179"/>
            <a:ext cx="4044803" cy="123443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dirty="0"/>
              <a:t>B2B partnerships with insurance providers and urban delivery fleets for real-time risk assessment and insurance premium adjustments.</a:t>
            </a:r>
          </a:p>
        </p:txBody>
      </p:sp>
      <p:sp>
        <p:nvSpPr>
          <p:cNvPr id="21" name="Text 25">
            <a:extLst>
              <a:ext uri="{FF2B5EF4-FFF2-40B4-BE49-F238E27FC236}">
                <a16:creationId xmlns:a16="http://schemas.microsoft.com/office/drawing/2014/main" id="{CFDB01E7-5F5D-7881-68C8-EFEC8D340766}"/>
              </a:ext>
            </a:extLst>
          </p:cNvPr>
          <p:cNvSpPr/>
          <p:nvPr/>
        </p:nvSpPr>
        <p:spPr>
          <a:xfrm>
            <a:off x="6286720" y="4044185"/>
            <a:ext cx="439056" cy="6322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4" name="Shape 9">
            <a:extLst>
              <a:ext uri="{FF2B5EF4-FFF2-40B4-BE49-F238E27FC236}">
                <a16:creationId xmlns:a16="http://schemas.microsoft.com/office/drawing/2014/main" id="{8B31DAFF-2B90-45A5-CA32-F6B1FE6A9925}"/>
              </a:ext>
            </a:extLst>
          </p:cNvPr>
          <p:cNvSpPr/>
          <p:nvPr/>
        </p:nvSpPr>
        <p:spPr>
          <a:xfrm>
            <a:off x="6296811" y="2404872"/>
            <a:ext cx="450873" cy="512064"/>
          </a:xfrm>
          <a:prstGeom prst="ellipse">
            <a:avLst/>
          </a:prstGeom>
          <a:solidFill>
            <a:srgbClr val="1B2A6B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2</a:t>
            </a:r>
          </a:p>
        </p:txBody>
      </p:sp>
      <p:sp>
        <p:nvSpPr>
          <p:cNvPr id="25" name="Shape 9">
            <a:extLst>
              <a:ext uri="{FF2B5EF4-FFF2-40B4-BE49-F238E27FC236}">
                <a16:creationId xmlns:a16="http://schemas.microsoft.com/office/drawing/2014/main" id="{4E017913-E389-9F6F-F974-89F25895AD0A}"/>
              </a:ext>
            </a:extLst>
          </p:cNvPr>
          <p:cNvSpPr/>
          <p:nvPr/>
        </p:nvSpPr>
        <p:spPr>
          <a:xfrm>
            <a:off x="1339558" y="4339894"/>
            <a:ext cx="450873" cy="512064"/>
          </a:xfrm>
          <a:prstGeom prst="ellipse">
            <a:avLst/>
          </a:prstGeom>
          <a:solidFill>
            <a:srgbClr val="1B2A6B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3</a:t>
            </a:r>
          </a:p>
        </p:txBody>
      </p:sp>
      <p:sp>
        <p:nvSpPr>
          <p:cNvPr id="27" name="Shape 18">
            <a:extLst>
              <a:ext uri="{FF2B5EF4-FFF2-40B4-BE49-F238E27FC236}">
                <a16:creationId xmlns:a16="http://schemas.microsoft.com/office/drawing/2014/main" id="{71F85E5B-F499-629D-D4B1-6C238170F436}"/>
              </a:ext>
            </a:extLst>
          </p:cNvPr>
          <p:cNvSpPr/>
          <p:nvPr/>
        </p:nvSpPr>
        <p:spPr>
          <a:xfrm>
            <a:off x="6205727" y="4064261"/>
            <a:ext cx="4740112" cy="2198324"/>
          </a:xfrm>
          <a:prstGeom prst="rect">
            <a:avLst/>
          </a:prstGeom>
          <a:solidFill>
            <a:srgbClr val="EEF2FF"/>
          </a:solidFill>
          <a:ln w="12700">
            <a:solidFill>
              <a:srgbClr val="C7D2FE"/>
            </a:solidFill>
            <a:prstDash val="solid"/>
          </a:ln>
          <a:effectLst>
            <a:outerShdw blurRad="101600" dist="254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 dirty="0"/>
          </a:p>
        </p:txBody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D233FF20-BE04-D822-449C-E66E8B2695FA}"/>
              </a:ext>
            </a:extLst>
          </p:cNvPr>
          <p:cNvSpPr/>
          <p:nvPr/>
        </p:nvSpPr>
        <p:spPr>
          <a:xfrm>
            <a:off x="7037719" y="4346745"/>
            <a:ext cx="453018" cy="63227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6644A1CA-5CA6-C717-AF91-A9C292829E18}"/>
              </a:ext>
            </a:extLst>
          </p:cNvPr>
          <p:cNvSpPr/>
          <p:nvPr/>
        </p:nvSpPr>
        <p:spPr>
          <a:xfrm>
            <a:off x="6859262" y="4163866"/>
            <a:ext cx="4044803" cy="51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D73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Market</a:t>
            </a:r>
            <a:endParaRPr lang="en-US" sz="2000" dirty="0"/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7DCBBC9C-60D9-B2F2-13A5-26F4EA3C5B74}"/>
              </a:ext>
            </a:extLst>
          </p:cNvPr>
          <p:cNvSpPr/>
          <p:nvPr/>
        </p:nvSpPr>
        <p:spPr>
          <a:xfrm>
            <a:off x="6867426" y="4604656"/>
            <a:ext cx="4094741" cy="145366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motorcyclists &amp; cyclists in Sri Lanka &amp; South Asia.</a:t>
            </a:r>
            <a:endParaRPr lang="en-US" sz="1600" dirty="0"/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Safety-conscious and student riders</a:t>
            </a:r>
            <a:endParaRPr lang="en-US" sz="1600" dirty="0"/>
          </a:p>
          <a:p>
            <a:pPr marL="285750" indent="-285750"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Insurance companies, transport authorities, healthcare providers, Delivery riders (</a:t>
            </a:r>
            <a:r>
              <a:rPr lang="en-US" sz="16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PickMe</a:t>
            </a:r>
            <a:r>
              <a:rPr lang="en-US" sz="16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Uber Eats)</a:t>
            </a:r>
            <a:endParaRPr lang="en-US" sz="1600" dirty="0"/>
          </a:p>
        </p:txBody>
      </p:sp>
      <p:sp>
        <p:nvSpPr>
          <p:cNvPr id="31" name="Shape 9">
            <a:extLst>
              <a:ext uri="{FF2B5EF4-FFF2-40B4-BE49-F238E27FC236}">
                <a16:creationId xmlns:a16="http://schemas.microsoft.com/office/drawing/2014/main" id="{C1D6180B-AB2A-8AEF-91E0-8EEBAD0621C4}"/>
              </a:ext>
            </a:extLst>
          </p:cNvPr>
          <p:cNvSpPr/>
          <p:nvPr/>
        </p:nvSpPr>
        <p:spPr>
          <a:xfrm>
            <a:off x="6359513" y="4371625"/>
            <a:ext cx="450873" cy="512064"/>
          </a:xfrm>
          <a:prstGeom prst="ellipse">
            <a:avLst/>
          </a:prstGeom>
          <a:solidFill>
            <a:srgbClr val="1B2A6B"/>
          </a:solidFill>
          <a:ln w="19050">
            <a:solidFill>
              <a:srgbClr val="0D7377"/>
            </a:solidFill>
            <a:prstDash val="solid"/>
          </a:ln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259850172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B6575EE6-77CD-0118-F657-EF64694390E4}"/>
              </a:ext>
            </a:extLst>
          </p:cNvPr>
          <p:cNvSpPr txBox="1">
            <a:spLocks/>
          </p:cNvSpPr>
          <p:nvPr/>
        </p:nvSpPr>
        <p:spPr>
          <a:xfrm>
            <a:off x="936434" y="0"/>
            <a:ext cx="10363200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Adobe Devanagari" pitchFamily="18" charset="0"/>
                <a:ea typeface="+mj-ea"/>
                <a:cs typeface="Adobe Devanagari" pitchFamily="18" charset="0"/>
              </a:defRPr>
            </a:lvl1pPr>
          </a:lstStyle>
          <a:p>
            <a:r>
              <a:rPr lang="en-US" dirty="0">
                <a:solidFill>
                  <a:schemeClr val="tx2">
                    <a:lumMod val="50000"/>
                  </a:schemeClr>
                </a:solidFill>
                <a:latin typeface="Cambria (Body)"/>
                <a:ea typeface="+mn-ea"/>
                <a:cs typeface="+mn-cs"/>
                <a:sym typeface="Archivo Black"/>
              </a:rPr>
              <a:t>FEEDBACK FROM USERS</a:t>
            </a:r>
            <a:endParaRPr lang="en-US" dirty="0">
              <a:solidFill>
                <a:schemeClr val="tx2">
                  <a:lumMod val="50000"/>
                </a:schemeClr>
              </a:solidFill>
              <a:latin typeface="Cambria (Body)"/>
              <a:ea typeface="+mn-ea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1E32E0F-0441-7142-4E8D-E8BF6FAB2BA7}"/>
              </a:ext>
            </a:extLst>
          </p:cNvPr>
          <p:cNvSpPr txBox="1"/>
          <p:nvPr/>
        </p:nvSpPr>
        <p:spPr>
          <a:xfrm>
            <a:off x="485932" y="2234090"/>
            <a:ext cx="3428202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>
                <a:solidFill>
                  <a:sysClr val="windowText" lastClr="000000"/>
                </a:solidFill>
              </a:rPr>
              <a:t>"While the helmet is innovative, I found the built-in speaker uncomfortable during long rides. However, the voice guidance from the mobile app is much more user-friendly and easier to hear.“</a:t>
            </a:r>
          </a:p>
          <a:p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 err="1">
                <a:solidFill>
                  <a:sysClr val="windowText" lastClr="000000"/>
                </a:solidFill>
              </a:rPr>
              <a:t>Chamod</a:t>
            </a:r>
            <a:r>
              <a:rPr lang="en-US" dirty="0">
                <a:solidFill>
                  <a:sysClr val="windowText" lastClr="000000"/>
                </a:solidFill>
              </a:rPr>
              <a:t> </a:t>
            </a:r>
            <a:r>
              <a:rPr lang="en-US" dirty="0" err="1">
                <a:solidFill>
                  <a:sysClr val="windowText" lastClr="000000"/>
                </a:solidFill>
              </a:rPr>
              <a:t>Gallage</a:t>
            </a:r>
            <a:endParaRPr lang="en-US" dirty="0">
              <a:solidFill>
                <a:sysClr val="windowText" lastClr="000000"/>
              </a:solidFill>
            </a:endParaRPr>
          </a:p>
          <a:p>
            <a:r>
              <a:rPr lang="en-US" dirty="0" err="1">
                <a:solidFill>
                  <a:sysClr val="windowText" lastClr="000000"/>
                </a:solidFill>
              </a:rPr>
              <a:t>PickMe</a:t>
            </a:r>
            <a:r>
              <a:rPr lang="en-US" dirty="0">
                <a:solidFill>
                  <a:sysClr val="windowText" lastClr="000000"/>
                </a:solidFill>
              </a:rPr>
              <a:t> Rider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AC319-594D-0165-F300-64288BC1A4E1}"/>
              </a:ext>
            </a:extLst>
          </p:cNvPr>
          <p:cNvSpPr txBox="1"/>
          <p:nvPr/>
        </p:nvSpPr>
        <p:spPr>
          <a:xfrm>
            <a:off x="4660066" y="2252669"/>
            <a:ext cx="302176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"The Smart Helmet has transformed my daily rides. The stress detection feature helps me stay alert, and the accident alert system gives me peace of mind on busy roads.“</a:t>
            </a:r>
          </a:p>
          <a:p>
            <a:endParaRPr lang="en-US" dirty="0"/>
          </a:p>
          <a:p>
            <a:r>
              <a:rPr lang="en-US" dirty="0"/>
              <a:t>Amila Lakshan</a:t>
            </a:r>
          </a:p>
          <a:p>
            <a:r>
              <a:rPr lang="en-US" dirty="0"/>
              <a:t>Uber Rider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28CCFEB-BDAD-5B2D-7CD7-CAD77652D1A3}"/>
              </a:ext>
            </a:extLst>
          </p:cNvPr>
          <p:cNvSpPr txBox="1"/>
          <p:nvPr/>
        </p:nvSpPr>
        <p:spPr>
          <a:xfrm>
            <a:off x="8277867" y="2252669"/>
            <a:ext cx="3021767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dirty="0"/>
              <a:t> "Excellent safety features! The real-time monitoring and voice alerts have significantly improved my riding experience. The mobile app is intuitive and very helpful.“</a:t>
            </a:r>
          </a:p>
          <a:p>
            <a:endParaRPr lang="en-US" dirty="0"/>
          </a:p>
          <a:p>
            <a:r>
              <a:rPr lang="en-US" dirty="0" err="1"/>
              <a:t>Sadeepa</a:t>
            </a:r>
            <a:r>
              <a:rPr lang="en-US" dirty="0"/>
              <a:t> </a:t>
            </a:r>
            <a:r>
              <a:rPr lang="en-US" dirty="0" err="1"/>
              <a:t>Chathuskara</a:t>
            </a:r>
            <a:endParaRPr lang="en-US" dirty="0"/>
          </a:p>
          <a:p>
            <a:r>
              <a:rPr lang="en-US" dirty="0" err="1"/>
              <a:t>PickMe</a:t>
            </a:r>
            <a:r>
              <a:rPr lang="en-US" dirty="0"/>
              <a:t> Rider.</a:t>
            </a:r>
          </a:p>
        </p:txBody>
      </p:sp>
    </p:spTree>
    <p:extLst>
      <p:ext uri="{BB962C8B-B14F-4D97-AF65-F5344CB8AC3E}">
        <p14:creationId xmlns:p14="http://schemas.microsoft.com/office/powerpoint/2010/main" val="356147962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999E0-A527-AB80-D5CB-8EA9A47AE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4000" y="3032919"/>
            <a:ext cx="11684000" cy="792162"/>
          </a:xfrm>
        </p:spPr>
        <p:txBody>
          <a:bodyPr>
            <a:noAutofit/>
          </a:bodyPr>
          <a:lstStyle/>
          <a:p>
            <a:r>
              <a:rPr lang="en-US" sz="5400" b="1" dirty="0">
                <a:latin typeface="+mn-lt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7524045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 2">
      <a:majorFont>
        <a:latin typeface="Calibri"/>
        <a:ea typeface=""/>
        <a:cs typeface=""/>
        <a:font script="Jpan" typeface="HGｺﾞｼｯｸM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mbria"/>
        <a:ea typeface=""/>
        <a:cs typeface=""/>
        <a:font script="Jpan" typeface="HG明朝B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Apothecary">
      <a:fillStyleLst>
        <a:solidFill>
          <a:schemeClr val="phClr"/>
        </a:solidFill>
        <a:gradFill rotWithShape="1">
          <a:gsLst>
            <a:gs pos="0">
              <a:schemeClr val="phClr">
                <a:tint val="1000"/>
                <a:satMod val="100000"/>
              </a:schemeClr>
            </a:gs>
            <a:gs pos="68000">
              <a:schemeClr val="phClr">
                <a:tint val="77000"/>
                <a:satMod val="100000"/>
              </a:schemeClr>
            </a:gs>
            <a:gs pos="81000">
              <a:schemeClr val="phClr">
                <a:tint val="79000"/>
                <a:satMod val="100000"/>
              </a:schemeClr>
            </a:gs>
            <a:gs pos="86000">
              <a:schemeClr val="phClr">
                <a:tint val="73000"/>
                <a:satMod val="100000"/>
              </a:schemeClr>
            </a:gs>
            <a:gs pos="100000">
              <a:schemeClr val="phClr">
                <a:tint val="35000"/>
                <a:sat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73000"/>
                <a:shade val="100000"/>
                <a:satMod val="150000"/>
              </a:schemeClr>
            </a:gs>
            <a:gs pos="25000">
              <a:schemeClr val="phClr">
                <a:tint val="96000"/>
                <a:shade val="80000"/>
                <a:satMod val="105000"/>
              </a:schemeClr>
            </a:gs>
            <a:gs pos="38000">
              <a:schemeClr val="phClr">
                <a:tint val="96000"/>
                <a:shade val="59000"/>
                <a:satMod val="120000"/>
              </a:schemeClr>
            </a:gs>
            <a:gs pos="55000">
              <a:schemeClr val="phClr">
                <a:tint val="100000"/>
                <a:shade val="57000"/>
                <a:satMod val="120000"/>
              </a:schemeClr>
            </a:gs>
            <a:gs pos="80000">
              <a:schemeClr val="phClr">
                <a:tint val="100000"/>
                <a:shade val="56000"/>
                <a:satMod val="145000"/>
              </a:schemeClr>
            </a:gs>
            <a:gs pos="88000">
              <a:schemeClr val="phClr">
                <a:tint val="100000"/>
                <a:shade val="63000"/>
                <a:satMod val="160000"/>
              </a:schemeClr>
            </a:gs>
            <a:gs pos="100000">
              <a:schemeClr val="phClr">
                <a:tint val="99000"/>
                <a:shade val="100000"/>
                <a:satMod val="155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  <a:scene3d>
            <a:camera prst="orthographicFront">
              <a:rot lat="0" lon="0" rev="0"/>
            </a:camera>
            <a:lightRig rig="glow" dir="tl">
              <a:rot lat="0" lon="0" rev="1800000"/>
            </a:lightRig>
          </a:scene3d>
          <a:sp3d contourW="10160" prstMaterial="dkEdge">
            <a:bevelT w="0" h="0" prst="angle"/>
            <a:contourClr>
              <a:schemeClr val="phClr">
                <a:shade val="30000"/>
                <a:satMod val="150000"/>
              </a:schemeClr>
            </a:contourClr>
          </a:sp3d>
        </a:effectStyle>
        <a:effectStyle>
          <a:effectLst>
            <a:glow rad="50800">
              <a:schemeClr val="phClr">
                <a:tint val="68000"/>
                <a:shade val="93000"/>
                <a:alpha val="37000"/>
                <a:satMod val="250000"/>
              </a:schemeClr>
            </a:glow>
          </a:effectLst>
          <a:scene3d>
            <a:camera prst="orthographicFront">
              <a:rot lat="0" lon="0" rev="0"/>
            </a:camera>
            <a:lightRig rig="glow" dir="t">
              <a:rot lat="0" lon="0" rev="1800000"/>
            </a:lightRig>
          </a:scene3d>
          <a:sp3d contourW="10160" prstMaterial="dkEdge">
            <a:bevelT w="20320" h="19050" prst="angle"/>
            <a:contourClr>
              <a:schemeClr val="phClr">
                <a:shade val="3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D08376A6-FCE2-4A8E-BFFF-11B69BD93976}" vid="{0A5F165D-9E14-4628-BA29-A51D7051FDC3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42d1e402-c42d-419a-bd83-d8d365e28f11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8476C4981FE2047819081DBF807662E" ma:contentTypeVersion="14" ma:contentTypeDescription="Create a new document." ma:contentTypeScope="" ma:versionID="66876b1d942843f59fbe3caedc7b4043">
  <xsd:schema xmlns:xsd="http://www.w3.org/2001/XMLSchema" xmlns:xs="http://www.w3.org/2001/XMLSchema" xmlns:p="http://schemas.microsoft.com/office/2006/metadata/properties" xmlns:ns3="42d1e402-c42d-419a-bd83-d8d365e28f11" xmlns:ns4="fdf483cb-5937-4af3-915e-55fd2d7d3a90" targetNamespace="http://schemas.microsoft.com/office/2006/metadata/properties" ma:root="true" ma:fieldsID="82b644cc2ebeb3cfdeb6ce088cf5b896" ns3:_="" ns4:_="">
    <xsd:import namespace="42d1e402-c42d-419a-bd83-d8d365e28f11"/>
    <xsd:import namespace="fdf483cb-5937-4af3-915e-55fd2d7d3a9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2d1e402-c42d-419a-bd83-d8d365e28f1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_activity" ma:index="14" nillable="true" ma:displayName="_activity" ma:hidden="true" ma:internalName="_activity">
      <xsd:simpleType>
        <xsd:restriction base="dms:Note"/>
      </xsd:simpleType>
    </xsd:element>
    <xsd:element name="MediaServiceSearchProperties" ma:index="18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9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20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df483cb-5937-4af3-915e-55fd2d7d3a90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7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B645857-B3A4-4348-9ADE-D7EED908B714}">
  <ds:schemaRefs>
    <ds:schemaRef ds:uri="http://purl.org/dc/elements/1.1/"/>
    <ds:schemaRef ds:uri="http://purl.org/dc/dcmitype/"/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fdf483cb-5937-4af3-915e-55fd2d7d3a90"/>
    <ds:schemaRef ds:uri="42d1e402-c42d-419a-bd83-d8d365e28f11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3F416611-1FED-49FF-86BC-568E0FE85B9F}">
  <ds:schemaRefs>
    <ds:schemaRef ds:uri="42d1e402-c42d-419a-bd83-d8d365e28f11"/>
    <ds:schemaRef ds:uri="fdf483cb-5937-4af3-915e-55fd2d7d3a9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8A8F27E-3C75-493A-BD38-E59D00EEDBA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4e3cf94-19c9-4e32-96c3-14f5bf01391a}" enabled="0" method="" siteId="{44e3cf94-19c9-4e32-96c3-14f5bf01391a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2468</TotalTime>
  <Words>1044</Words>
  <Application>Microsoft Office PowerPoint</Application>
  <PresentationFormat>Widescreen</PresentationFormat>
  <Paragraphs>119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Adobe Devanagari</vt:lpstr>
      <vt:lpstr>Arial</vt:lpstr>
      <vt:lpstr>Calibri</vt:lpstr>
      <vt:lpstr>Cambria</vt:lpstr>
      <vt:lpstr>Cambria (Body)</vt:lpstr>
      <vt:lpstr>Cambria Bold</vt:lpstr>
      <vt:lpstr>Times New Roman</vt:lpstr>
      <vt:lpstr>Wingdings</vt:lpstr>
      <vt:lpstr>Office Theme</vt:lpstr>
      <vt:lpstr>SST - BASED SMART HELMET FOR CYCLISTS AND MOTOR CYCLISTS</vt:lpstr>
      <vt:lpstr>PowerPoint Presentation</vt:lpstr>
      <vt:lpstr>PP2 Feedback &amp; Strategic Actions</vt:lpstr>
      <vt:lpstr>PROBLEM &amp; MOTIVATION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LIMITATIONS &amp; FUTURE IMPROVEMENTS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SAMARAKOON S S A D S B it22207036</dc:creator>
  <cp:lastModifiedBy>Sarith Samarakoon</cp:lastModifiedBy>
  <cp:revision>11</cp:revision>
  <dcterms:created xsi:type="dcterms:W3CDTF">2025-09-04T13:58:55Z</dcterms:created>
  <dcterms:modified xsi:type="dcterms:W3CDTF">2026-05-04T12:00:30Z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0x01010018476C4981FE2047819081DBF807662E</vt:lpwstr>
  </property>
</Properties>
</file>